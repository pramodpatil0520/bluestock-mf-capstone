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275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My name is Pramod Vinayak Patil. Today I am presenting my capstone internship project completed at Bluestock Fintech Pvt. Ltd. The project is a full-stack Mutual Fund Analytics Platform that analyzes 40+ schemes using real AMFI data, Python ETL, SQLite, and Power BI. This presentation covers the problem we solved, the data we used, the methods we applied, and the business value delivered.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project is a complete data analytics pipeline built end-to-end. We pull NAV data from AMFI and mfapi.in, process it using 5 Jupyter notebooks and 3 Python scripts, store results in a star-schema SQLite database with 8 tables, and visualize everything in Power BI. The motivation: India's mutual fund industry manages ₹81 lakh crore in AUM, yet most retail investors have no easy way to compare risk-adjusted performance. We solve that.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India had 26.12 crore folios as of December 2025, and SIP inflows hit an all-time high of ₹31,002 crore that month. Yet the average retail investor cannot access the same analytical depth as institutional fund managers. Our four core problems: fund comparison overload, data volume, missing risk-adjusted metrics, and research time. Our platform addresses all four.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four objectives map directly to the four business problems. Objective 1 addresses data breadth. Objective 2 addresses analytical depth. Objective 3 enables comparative analysis. Objective 4 ensures the insights are actually usable by investors. The composite scorecard—weighting 3yr return 30%, Sharpe 25%, Alpha 20%, expense ratio 15%, drawdown 10%—is our key differentiator.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data is publicly available—no proprietary feeds required. AMFI publishes daily NAV via mfapi.in (no authentication needed). We cover 40 schemes across 8 categories, with 87,000+ rows of historical data spanning 4.5 years. The star schema has dim_fund and dim_date as dimension tables, with fact_nav, fact_transactions, and fact_performance as fact tables. This design enables fast analytical queries.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entire stack is open-source and free—a deliberate choice to demonstrate reproducibility. Python with Pandas and NumPy handles all ETL and metric computation. SQLite via SQLAlchemy provides a portable database without server setup. Power BI delivers the interactive dashboard. SciPy's linregress powers the Alpha/Beta calculations against Nifty 100. All code is version-controlled on GitHub.</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architecture is a classic ETL-to-dashboard pipeline. Raw data comes from three free sources: AMFI India CSVs, mfapi.in JSON API, and NSE/BSE index files. The ETL pipeline cleans and loads everything into SQLite. Python scripts then compute 9+ performance metrics. The resulting database feeds a 4-page Power BI dashboard. A rule-based recommender script adds personalized fund suggestions on top.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methodology follows investment industry standards. CAGR uses trading days (252/year) not calendar days—a common mistake. Sharpe uses RBI repo rate (6.5%) as the risk-free proxy. Sortino only uses negative return days in the denominator, penalizing downside volatility only. Beta is computed via scipy.stats.linregress against Nifty 100. The composite scorecard weights are inspired by Morningstar's fund rating methodology.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Power BI dashboard has four purpose-built pages. Page 1 gives the 30,000-foot industry view. Page 2 is the core fund comparison engine—the scatter plot of return vs risk is the most powerful visual for identifying efficient funds. Page 3 provides investor behavior analytics. Page 4 tracks SIP trends against market performance. Every page has at least two slicers so investors can explore their specific slice of data.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charts tell the story. First, CAGR: equity funds dramatically outperform debt over 5 years—small cap leads but with higher risk. Second, Sharpe ratio: this reordering is the insight—Balanced Advantage funds rise to the top, while some high-CAGR equity funds drop because their excess return doesn't justify the volatility. Third, the risk-return scatter is the key visual—it shows which funds give the most return per unit of risk. Fourth, the composite scorecard synthesizes everything into one actionable number.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finding: raw CAGR is misleading. Small cap funds have the highest CAGR but also the highest volatility and max drawdown—they fell 40%+ in 2022. Balanced Advantage funds, which dynamically allocate between equity and debt, deliver the best Sharpe ratios. The composite scorecard synthesizes this: HDFC Balanced Advantage tops the ranking with 82/100. For investors: SIP continuity, not timing, is the key driver of long-term wealth creation.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impact is measured on three axes: speed, depth, and scale. Speed: fund research that took a professional analyst a full day now takes an investor under 5 minutes on the dashboard. Depth: we went from 2 metrics to 9+, adding institutional-grade risk analytics. Scale: the platform architecture can handle the full 1,500+ scheme universe of Indian mutual funds. The open-source stack means zero incremental cost to scale.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significant engineering challenges. The data quality and CAGR issues were the most impactful—a 10-15% CAGR overstatement would completely invalidate the fund rankings. The SQLite indexing solution is a professional-grade optimization: composite indexes on the join columns. The Power BI connectivity workaround—CSV export—is a practical solution used widely in data analytics projects where native connectors are unavailable.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roadmap builds in order of impact. Phase 1 (live NAV automation) makes the platform truly real-time—that alone would make it production-grade. Phase 2 (ML forecasting) adds predictive intelligence. Phase 3 (portfolio optimization) is the most sophisticated—Markowitz efficient frontier is a staple of quantitative finance. Phase 4 (Streamlit) democratizes access. Phases 5 and 6 create the product-market fit for a consumer fintech app.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closing: this project delivered a complete, production-ready mutual fund analytics platform from scratch in 50+ hours. The key insight is that risk-adjusted metrics change everything—investors who only look at CAGR will pick the wrong funds. Our composite scorecard synthesizes nine metrics into one actionable number. The architecture is scalable to 1,500+ schemes. I'm ready to take questions.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389120" cy="685800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86800" y="-1097280"/>
            <a:ext cx="4114800" cy="4114800"/>
          </a:xfrm>
          <a:prstGeom prst="ellipse">
            <a:avLst/>
          </a:prstGeom>
          <a:solidFill>
            <a:srgbClr val="1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0" y="4114800"/>
            <a:ext cx="2926080" cy="2926080"/>
          </a:xfrm>
          <a:prstGeom prst="ellipse">
            <a:avLst/>
          </a:prstGeom>
          <a:solidFill>
            <a:srgbClr val="0D3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48840"/>
            <a:ext cx="3291840" cy="457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457200"/>
            <a:ext cx="3474720" cy="457200"/>
          </a:xfrm>
          <a:prstGeom prst="rect">
            <a:avLst/>
          </a:prstGeom>
          <a:noFill/>
        </p:spPr>
        <p:txBody>
          <a:bodyPr wrap="square" lIns="0" tIns="0" rIns="0" bIns="0">
            <a:spAutoFit/>
          </a:bodyPr>
          <a:lstStyle/>
          <a:p>
            <a:pPr algn="l"/>
            <a:r>
              <a:rPr sz="1100" b="1" i="0">
                <a:solidFill>
                  <a:srgbClr val="009BE8"/>
                </a:solidFill>
                <a:latin typeface="Calibri"/>
              </a:rPr>
              <a:t>BLUESTOCK FINTECH</a:t>
            </a:r>
          </a:p>
        </p:txBody>
      </p:sp>
      <p:sp>
        <p:nvSpPr>
          <p:cNvPr id="8" name="TextBox 7"/>
          <p:cNvSpPr txBox="1"/>
          <p:nvPr/>
        </p:nvSpPr>
        <p:spPr>
          <a:xfrm>
            <a:off x="365760" y="777240"/>
            <a:ext cx="3749039" cy="1920240"/>
          </a:xfrm>
          <a:prstGeom prst="rect">
            <a:avLst/>
          </a:prstGeom>
          <a:noFill/>
        </p:spPr>
        <p:txBody>
          <a:bodyPr wrap="square" lIns="0" tIns="0" rIns="0" bIns="0">
            <a:spAutoFit/>
          </a:bodyPr>
          <a:lstStyle/>
          <a:p>
            <a:pPr algn="l"/>
            <a:r>
              <a:rPr sz="2600" b="1" i="0" dirty="0">
                <a:solidFill>
                  <a:srgbClr val="FFFFFF"/>
                </a:solidFill>
                <a:latin typeface="Cambria"/>
              </a:rPr>
              <a:t>Mutual Fund Performance Analysis
and Investor Decision
Support Dashboard</a:t>
            </a:r>
          </a:p>
        </p:txBody>
      </p:sp>
      <p:sp>
        <p:nvSpPr>
          <p:cNvPr id="9" name="TextBox 8"/>
          <p:cNvSpPr txBox="1"/>
          <p:nvPr/>
        </p:nvSpPr>
        <p:spPr>
          <a:xfrm>
            <a:off x="457200" y="2697480"/>
            <a:ext cx="3474720" cy="457200"/>
          </a:xfrm>
          <a:prstGeom prst="rect">
            <a:avLst/>
          </a:prstGeom>
          <a:noFill/>
        </p:spPr>
        <p:txBody>
          <a:bodyPr wrap="square" lIns="0" tIns="0" rIns="0" bIns="0">
            <a:spAutoFit/>
          </a:bodyPr>
          <a:lstStyle/>
          <a:p>
            <a:pPr algn="l"/>
            <a:r>
              <a:rPr sz="1500" b="1" i="0" dirty="0">
                <a:solidFill>
                  <a:srgbClr val="F0A500"/>
                </a:solidFill>
                <a:latin typeface="Calibri"/>
              </a:rPr>
              <a:t>Pramod Vinayak Patil</a:t>
            </a:r>
          </a:p>
        </p:txBody>
      </p:sp>
      <p:sp>
        <p:nvSpPr>
          <p:cNvPr id="11" name="TextBox 10"/>
          <p:cNvSpPr txBox="1"/>
          <p:nvPr/>
        </p:nvSpPr>
        <p:spPr>
          <a:xfrm>
            <a:off x="457200" y="3200400"/>
            <a:ext cx="3657600" cy="365760"/>
          </a:xfrm>
          <a:prstGeom prst="rect">
            <a:avLst/>
          </a:prstGeom>
          <a:noFill/>
        </p:spPr>
        <p:txBody>
          <a:bodyPr wrap="square" lIns="0" tIns="0" rIns="0" bIns="0">
            <a:spAutoFit/>
          </a:bodyPr>
          <a:lstStyle/>
          <a:p>
            <a:pPr algn="l"/>
            <a:r>
              <a:rPr sz="1000" b="0" i="0">
                <a:solidFill>
                  <a:srgbClr val="AACCEE"/>
                </a:solidFill>
                <a:latin typeface="Calibri"/>
              </a:rPr>
              <a:t>Capstone Internship Project · Bluestock Fintech Pvt. Ltd.</a:t>
            </a:r>
          </a:p>
        </p:txBody>
      </p:sp>
      <p:sp>
        <p:nvSpPr>
          <p:cNvPr id="12" name="TextBox 11"/>
          <p:cNvSpPr txBox="1"/>
          <p:nvPr/>
        </p:nvSpPr>
        <p:spPr>
          <a:xfrm>
            <a:off x="457200" y="3611880"/>
            <a:ext cx="3474720" cy="365760"/>
          </a:xfrm>
          <a:prstGeom prst="rect">
            <a:avLst/>
          </a:prstGeom>
          <a:noFill/>
        </p:spPr>
        <p:txBody>
          <a:bodyPr wrap="square" lIns="0" tIns="0" rIns="0" bIns="0">
            <a:spAutoFit/>
          </a:bodyPr>
          <a:lstStyle/>
          <a:p>
            <a:pPr algn="l"/>
            <a:r>
              <a:rPr sz="1000" b="0" i="1">
                <a:solidFill>
                  <a:srgbClr val="80AACC"/>
                </a:solidFill>
                <a:latin typeface="Calibri"/>
              </a:rPr>
              <a:t>June 2026</a:t>
            </a:r>
          </a:p>
        </p:txBody>
      </p:sp>
      <p:sp>
        <p:nvSpPr>
          <p:cNvPr id="13" name="Rounded Rectangle 12"/>
          <p:cNvSpPr/>
          <p:nvPr/>
        </p:nvSpPr>
        <p:spPr>
          <a:xfrm>
            <a:off x="5120640" y="1645920"/>
            <a:ext cx="2743200" cy="1280160"/>
          </a:xfrm>
          <a:prstGeom prst="round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57800" y="1737360"/>
            <a:ext cx="2468880" cy="685800"/>
          </a:xfrm>
          <a:prstGeom prst="rect">
            <a:avLst/>
          </a:prstGeom>
          <a:noFill/>
        </p:spPr>
        <p:txBody>
          <a:bodyPr wrap="square" lIns="0" tIns="0" rIns="0" bIns="0">
            <a:spAutoFit/>
          </a:bodyPr>
          <a:lstStyle/>
          <a:p>
            <a:pPr algn="ctr"/>
            <a:r>
              <a:rPr sz="3200" b="1" i="0">
                <a:solidFill>
                  <a:srgbClr val="009BE8"/>
                </a:solidFill>
                <a:latin typeface="Cambria"/>
              </a:rPr>
              <a:t>40+</a:t>
            </a:r>
          </a:p>
        </p:txBody>
      </p:sp>
      <p:sp>
        <p:nvSpPr>
          <p:cNvPr id="15" name="TextBox 14"/>
          <p:cNvSpPr txBox="1"/>
          <p:nvPr/>
        </p:nvSpPr>
        <p:spPr>
          <a:xfrm>
            <a:off x="5257800" y="2423160"/>
            <a:ext cx="2468880" cy="365760"/>
          </a:xfrm>
          <a:prstGeom prst="rect">
            <a:avLst/>
          </a:prstGeom>
          <a:noFill/>
        </p:spPr>
        <p:txBody>
          <a:bodyPr wrap="square" lIns="0" tIns="0" rIns="0" bIns="0">
            <a:spAutoFit/>
          </a:bodyPr>
          <a:lstStyle/>
          <a:p>
            <a:pPr algn="ctr"/>
            <a:r>
              <a:rPr sz="1100" b="0" i="0">
                <a:solidFill>
                  <a:srgbClr val="CCDDEE"/>
                </a:solidFill>
                <a:latin typeface="Calibri"/>
              </a:rPr>
              <a:t>Fund Schemes</a:t>
            </a:r>
          </a:p>
        </p:txBody>
      </p:sp>
      <p:sp>
        <p:nvSpPr>
          <p:cNvPr id="16" name="Rounded Rectangle 15"/>
          <p:cNvSpPr/>
          <p:nvPr/>
        </p:nvSpPr>
        <p:spPr>
          <a:xfrm>
            <a:off x="8321040" y="1645920"/>
            <a:ext cx="2743200" cy="1280160"/>
          </a:xfrm>
          <a:prstGeom prst="round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58200" y="1737360"/>
            <a:ext cx="2468880" cy="685800"/>
          </a:xfrm>
          <a:prstGeom prst="rect">
            <a:avLst/>
          </a:prstGeom>
          <a:noFill/>
        </p:spPr>
        <p:txBody>
          <a:bodyPr wrap="square" lIns="0" tIns="0" rIns="0" bIns="0">
            <a:spAutoFit/>
          </a:bodyPr>
          <a:lstStyle/>
          <a:p>
            <a:pPr algn="ctr"/>
            <a:r>
              <a:rPr sz="3200" b="1" i="0">
                <a:solidFill>
                  <a:srgbClr val="009BE8"/>
                </a:solidFill>
                <a:latin typeface="Cambria"/>
              </a:rPr>
              <a:t>87,000+</a:t>
            </a:r>
          </a:p>
        </p:txBody>
      </p:sp>
      <p:sp>
        <p:nvSpPr>
          <p:cNvPr id="18" name="TextBox 17"/>
          <p:cNvSpPr txBox="1"/>
          <p:nvPr/>
        </p:nvSpPr>
        <p:spPr>
          <a:xfrm>
            <a:off x="8458200" y="2423160"/>
            <a:ext cx="2468880" cy="365760"/>
          </a:xfrm>
          <a:prstGeom prst="rect">
            <a:avLst/>
          </a:prstGeom>
          <a:noFill/>
        </p:spPr>
        <p:txBody>
          <a:bodyPr wrap="square" lIns="0" tIns="0" rIns="0" bIns="0">
            <a:spAutoFit/>
          </a:bodyPr>
          <a:lstStyle/>
          <a:p>
            <a:pPr algn="ctr"/>
            <a:r>
              <a:rPr sz="1100" b="0" i="0">
                <a:solidFill>
                  <a:srgbClr val="CCDDEE"/>
                </a:solidFill>
                <a:latin typeface="Calibri"/>
              </a:rPr>
              <a:t>Data Rows</a:t>
            </a:r>
          </a:p>
        </p:txBody>
      </p:sp>
      <p:sp>
        <p:nvSpPr>
          <p:cNvPr id="19" name="Rounded Rectangle 18"/>
          <p:cNvSpPr/>
          <p:nvPr/>
        </p:nvSpPr>
        <p:spPr>
          <a:xfrm>
            <a:off x="5120640" y="3291840"/>
            <a:ext cx="2743200" cy="1280160"/>
          </a:xfrm>
          <a:prstGeom prst="round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57800" y="3383280"/>
            <a:ext cx="2468880" cy="685800"/>
          </a:xfrm>
          <a:prstGeom prst="rect">
            <a:avLst/>
          </a:prstGeom>
          <a:noFill/>
        </p:spPr>
        <p:txBody>
          <a:bodyPr wrap="square" lIns="0" tIns="0" rIns="0" bIns="0">
            <a:spAutoFit/>
          </a:bodyPr>
          <a:lstStyle/>
          <a:p>
            <a:pPr algn="ctr"/>
            <a:r>
              <a:rPr sz="3200" b="1" i="0">
                <a:solidFill>
                  <a:srgbClr val="009BE8"/>
                </a:solidFill>
                <a:latin typeface="Cambria"/>
              </a:rPr>
              <a:t>4.5 Yrs</a:t>
            </a:r>
          </a:p>
        </p:txBody>
      </p:sp>
      <p:sp>
        <p:nvSpPr>
          <p:cNvPr id="21" name="TextBox 20"/>
          <p:cNvSpPr txBox="1"/>
          <p:nvPr/>
        </p:nvSpPr>
        <p:spPr>
          <a:xfrm>
            <a:off x="5257800" y="4069080"/>
            <a:ext cx="2468880" cy="365760"/>
          </a:xfrm>
          <a:prstGeom prst="rect">
            <a:avLst/>
          </a:prstGeom>
          <a:noFill/>
        </p:spPr>
        <p:txBody>
          <a:bodyPr wrap="square" lIns="0" tIns="0" rIns="0" bIns="0">
            <a:spAutoFit/>
          </a:bodyPr>
          <a:lstStyle/>
          <a:p>
            <a:pPr algn="ctr"/>
            <a:r>
              <a:rPr sz="1100" b="0" i="0">
                <a:solidFill>
                  <a:srgbClr val="CCDDEE"/>
                </a:solidFill>
                <a:latin typeface="Calibri"/>
              </a:rPr>
              <a:t>NAV History</a:t>
            </a:r>
          </a:p>
        </p:txBody>
      </p:sp>
      <p:sp>
        <p:nvSpPr>
          <p:cNvPr id="22" name="Rounded Rectangle 21"/>
          <p:cNvSpPr/>
          <p:nvPr/>
        </p:nvSpPr>
        <p:spPr>
          <a:xfrm>
            <a:off x="8321040" y="3291840"/>
            <a:ext cx="2743200" cy="1280160"/>
          </a:xfrm>
          <a:prstGeom prst="round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58200" y="3383280"/>
            <a:ext cx="2468880" cy="685800"/>
          </a:xfrm>
          <a:prstGeom prst="rect">
            <a:avLst/>
          </a:prstGeom>
          <a:noFill/>
        </p:spPr>
        <p:txBody>
          <a:bodyPr wrap="square" lIns="0" tIns="0" rIns="0" bIns="0">
            <a:spAutoFit/>
          </a:bodyPr>
          <a:lstStyle/>
          <a:p>
            <a:pPr algn="ctr"/>
            <a:r>
              <a:rPr sz="3200" b="1" i="0">
                <a:solidFill>
                  <a:srgbClr val="009BE8"/>
                </a:solidFill>
                <a:latin typeface="Cambria"/>
              </a:rPr>
              <a:t>8</a:t>
            </a:r>
          </a:p>
        </p:txBody>
      </p:sp>
      <p:sp>
        <p:nvSpPr>
          <p:cNvPr id="24" name="TextBox 23"/>
          <p:cNvSpPr txBox="1"/>
          <p:nvPr/>
        </p:nvSpPr>
        <p:spPr>
          <a:xfrm>
            <a:off x="8458200" y="4069080"/>
            <a:ext cx="2468880" cy="365760"/>
          </a:xfrm>
          <a:prstGeom prst="rect">
            <a:avLst/>
          </a:prstGeom>
          <a:noFill/>
        </p:spPr>
        <p:txBody>
          <a:bodyPr wrap="square" lIns="0" tIns="0" rIns="0" bIns="0">
            <a:spAutoFit/>
          </a:bodyPr>
          <a:lstStyle/>
          <a:p>
            <a:pPr algn="ctr"/>
            <a:r>
              <a:rPr sz="1100" b="0" i="0">
                <a:solidFill>
                  <a:srgbClr val="CCDDEE"/>
                </a:solidFill>
                <a:latin typeface="Calibri"/>
              </a:rPr>
              <a:t>DB Tables</a:t>
            </a:r>
          </a:p>
        </p:txBody>
      </p:sp>
      <p:sp>
        <p:nvSpPr>
          <p:cNvPr id="25" name="TextBox 24"/>
          <p:cNvSpPr txBox="1"/>
          <p:nvPr/>
        </p:nvSpPr>
        <p:spPr>
          <a:xfrm>
            <a:off x="4754880" y="6217920"/>
            <a:ext cx="7132320" cy="457200"/>
          </a:xfrm>
          <a:prstGeom prst="rect">
            <a:avLst/>
          </a:prstGeom>
          <a:noFill/>
        </p:spPr>
        <p:txBody>
          <a:bodyPr wrap="square" lIns="0" tIns="0" rIns="0" bIns="0">
            <a:spAutoFit/>
          </a:bodyPr>
          <a:lstStyle/>
          <a:p>
            <a:pPr algn="ctr"/>
            <a:r>
              <a:rPr sz="1000" b="0" i="1">
                <a:solidFill>
                  <a:srgbClr val="6080A0"/>
                </a:solidFill>
                <a:latin typeface="Calibri"/>
              </a:rPr>
              <a:t>Data Analyst · Capstone Project · Portfolio Showcase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Project Overview</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What We Built · Why It Matters · Expected Outcomes</a:t>
            </a:r>
          </a:p>
        </p:txBody>
      </p:sp>
      <p:sp>
        <p:nvSpPr>
          <p:cNvPr id="6" name="Rounded Rectangle 5"/>
          <p:cNvSpPr/>
          <p:nvPr/>
        </p:nvSpPr>
        <p:spPr>
          <a:xfrm>
            <a:off x="365760" y="1188720"/>
            <a:ext cx="3657600" cy="4937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88720"/>
            <a:ext cx="3657600" cy="50292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34440"/>
            <a:ext cx="3383280" cy="411480"/>
          </a:xfrm>
          <a:prstGeom prst="rect">
            <a:avLst/>
          </a:prstGeom>
          <a:noFill/>
        </p:spPr>
        <p:txBody>
          <a:bodyPr wrap="square" lIns="0" tIns="0" rIns="0" bIns="0">
            <a:spAutoFit/>
          </a:bodyPr>
          <a:lstStyle/>
          <a:p>
            <a:pPr algn="l"/>
            <a:r>
              <a:rPr sz="1400" b="1" i="0">
                <a:solidFill>
                  <a:srgbClr val="FFFFFF"/>
                </a:solidFill>
                <a:latin typeface="Calibri"/>
              </a:rPr>
              <a:t>🔍 What</a:t>
            </a:r>
          </a:p>
        </p:txBody>
      </p:sp>
      <p:sp>
        <p:nvSpPr>
          <p:cNvPr id="9" name="TextBox 8"/>
          <p:cNvSpPr txBox="1"/>
          <p:nvPr/>
        </p:nvSpPr>
        <p:spPr>
          <a:xfrm>
            <a:off x="548640" y="1874519"/>
            <a:ext cx="3337560" cy="4023360"/>
          </a:xfrm>
          <a:prstGeom prst="rect">
            <a:avLst/>
          </a:prstGeom>
          <a:noFill/>
        </p:spPr>
        <p:txBody>
          <a:bodyPr wrap="square" lIns="0" tIns="0" rIns="0" bIns="0">
            <a:spAutoFit/>
          </a:bodyPr>
          <a:lstStyle/>
          <a:p>
            <a:pPr algn="l"/>
            <a:r>
              <a:rPr sz="1200" b="0" i="0">
                <a:solidFill>
                  <a:srgbClr val="1A1A2E"/>
                </a:solidFill>
                <a:latin typeface="Calibri"/>
              </a:rPr>
              <a:t>A full-stack Mutual Fund Analytics Platform ingesting AMFI India NAV data, transforming it via a Python ETL pipeline, storing results in a normalized SQLite star-schema database, and surfacing insights via an interactive Power BI dashboard with 4 analytical pages.</a:t>
            </a:r>
          </a:p>
        </p:txBody>
      </p:sp>
      <p:sp>
        <p:nvSpPr>
          <p:cNvPr id="10" name="Rounded Rectangle 9"/>
          <p:cNvSpPr/>
          <p:nvPr/>
        </p:nvSpPr>
        <p:spPr>
          <a:xfrm>
            <a:off x="4251960" y="1188720"/>
            <a:ext cx="3657600" cy="4937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51960" y="1188720"/>
            <a:ext cx="3657600" cy="50292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234440"/>
            <a:ext cx="3383280" cy="411480"/>
          </a:xfrm>
          <a:prstGeom prst="rect">
            <a:avLst/>
          </a:prstGeom>
          <a:noFill/>
        </p:spPr>
        <p:txBody>
          <a:bodyPr wrap="square" lIns="0" tIns="0" rIns="0" bIns="0">
            <a:spAutoFit/>
          </a:bodyPr>
          <a:lstStyle/>
          <a:p>
            <a:pPr algn="l"/>
            <a:r>
              <a:rPr sz="1400" b="1" i="0">
                <a:solidFill>
                  <a:srgbClr val="FFFFFF"/>
                </a:solidFill>
                <a:latin typeface="Calibri"/>
              </a:rPr>
              <a:t>💡 Why</a:t>
            </a:r>
          </a:p>
        </p:txBody>
      </p:sp>
      <p:sp>
        <p:nvSpPr>
          <p:cNvPr id="13" name="TextBox 12"/>
          <p:cNvSpPr txBox="1"/>
          <p:nvPr/>
        </p:nvSpPr>
        <p:spPr>
          <a:xfrm>
            <a:off x="4434840" y="1874519"/>
            <a:ext cx="3337560" cy="4023360"/>
          </a:xfrm>
          <a:prstGeom prst="rect">
            <a:avLst/>
          </a:prstGeom>
          <a:noFill/>
        </p:spPr>
        <p:txBody>
          <a:bodyPr wrap="square" lIns="0" tIns="0" rIns="0" bIns="0">
            <a:spAutoFit/>
          </a:bodyPr>
          <a:lstStyle/>
          <a:p>
            <a:pPr algn="l"/>
            <a:r>
              <a:rPr sz="1200" b="0" i="0">
                <a:solidFill>
                  <a:srgbClr val="1A1A2E"/>
                </a:solidFill>
                <a:latin typeface="Calibri"/>
              </a:rPr>
              <a:t>Indian retail investors struggle to compare 40+ mutual fund schemes objectively. Existing platforms lack transparent risk-adjusted metrics. This platform democratizes institutional-grade analytics—CAGR, Sharpe, Sortino, Alpha, Beta, Max Drawdown—for everyday investors.</a:t>
            </a:r>
          </a:p>
        </p:txBody>
      </p:sp>
      <p:sp>
        <p:nvSpPr>
          <p:cNvPr id="14" name="Rounded Rectangle 13"/>
          <p:cNvSpPr/>
          <p:nvPr/>
        </p:nvSpPr>
        <p:spPr>
          <a:xfrm>
            <a:off x="8138160" y="1188720"/>
            <a:ext cx="3657600" cy="4937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188720"/>
            <a:ext cx="3657600" cy="50292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1234440"/>
            <a:ext cx="3383280" cy="411480"/>
          </a:xfrm>
          <a:prstGeom prst="rect">
            <a:avLst/>
          </a:prstGeom>
          <a:noFill/>
        </p:spPr>
        <p:txBody>
          <a:bodyPr wrap="square" lIns="0" tIns="0" rIns="0" bIns="0">
            <a:spAutoFit/>
          </a:bodyPr>
          <a:lstStyle/>
          <a:p>
            <a:pPr algn="l"/>
            <a:r>
              <a:rPr sz="1400" b="1" i="0">
                <a:solidFill>
                  <a:srgbClr val="FFFFFF"/>
                </a:solidFill>
                <a:latin typeface="Calibri"/>
              </a:rPr>
              <a:t>🎯 Outcomes</a:t>
            </a:r>
          </a:p>
        </p:txBody>
      </p:sp>
      <p:sp>
        <p:nvSpPr>
          <p:cNvPr id="17" name="TextBox 16"/>
          <p:cNvSpPr txBox="1"/>
          <p:nvPr/>
        </p:nvSpPr>
        <p:spPr>
          <a:xfrm>
            <a:off x="8321040" y="1874519"/>
            <a:ext cx="3337560" cy="4023360"/>
          </a:xfrm>
          <a:prstGeom prst="rect">
            <a:avLst/>
          </a:prstGeom>
          <a:noFill/>
        </p:spPr>
        <p:txBody>
          <a:bodyPr wrap="square" lIns="0" tIns="0" rIns="0" bIns="0">
            <a:spAutoFit/>
          </a:bodyPr>
          <a:lstStyle/>
          <a:p>
            <a:pPr algn="l"/>
            <a:r>
              <a:rPr sz="1200" b="0" i="0">
                <a:solidFill>
                  <a:srgbClr val="1A1A2E"/>
                </a:solidFill>
                <a:latin typeface="Calibri"/>
              </a:rPr>
              <a:t>Investors can benchmark fund performance, compare risk-return profiles, identify top scorers via a composite scorecard, and receive rule-based fund recommendations—all within an interactive, filter-driven dashboard.</a:t>
            </a:r>
          </a:p>
        </p:txBody>
      </p:sp>
      <p:sp>
        <p:nvSpPr>
          <p:cNvPr id="18" name="Rectangle 17"/>
          <p:cNvSpPr/>
          <p:nvPr/>
        </p:nvSpPr>
        <p:spPr>
          <a:xfrm>
            <a:off x="457200" y="6263640"/>
            <a:ext cx="274320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281928"/>
            <a:ext cx="2560320" cy="411480"/>
          </a:xfrm>
          <a:prstGeom prst="rect">
            <a:avLst/>
          </a:prstGeom>
          <a:noFill/>
        </p:spPr>
        <p:txBody>
          <a:bodyPr wrap="square" lIns="0" tIns="0" rIns="0" bIns="0">
            <a:spAutoFit/>
          </a:bodyPr>
          <a:lstStyle/>
          <a:p>
            <a:pPr algn="ctr"/>
            <a:r>
              <a:rPr sz="1100" b="0" i="0">
                <a:solidFill>
                  <a:srgbClr val="009BE8"/>
                </a:solidFill>
                <a:latin typeface="Calibri"/>
              </a:rPr>
              <a:t>₹81L Cr  Industry AUM</a:t>
            </a:r>
          </a:p>
        </p:txBody>
      </p:sp>
      <p:sp>
        <p:nvSpPr>
          <p:cNvPr id="20" name="Rectangle 19"/>
          <p:cNvSpPr/>
          <p:nvPr/>
        </p:nvSpPr>
        <p:spPr>
          <a:xfrm>
            <a:off x="3383280" y="6263640"/>
            <a:ext cx="274320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74720" y="6281928"/>
            <a:ext cx="2560320" cy="411480"/>
          </a:xfrm>
          <a:prstGeom prst="rect">
            <a:avLst/>
          </a:prstGeom>
          <a:noFill/>
        </p:spPr>
        <p:txBody>
          <a:bodyPr wrap="square" lIns="0" tIns="0" rIns="0" bIns="0">
            <a:spAutoFit/>
          </a:bodyPr>
          <a:lstStyle/>
          <a:p>
            <a:pPr algn="ctr"/>
            <a:r>
              <a:rPr sz="1100" b="0" i="0">
                <a:solidFill>
                  <a:srgbClr val="009BE8"/>
                </a:solidFill>
                <a:latin typeface="Calibri"/>
              </a:rPr>
              <a:t>₹31,002 Cr  Dec SIP Inflow</a:t>
            </a:r>
          </a:p>
        </p:txBody>
      </p:sp>
      <p:sp>
        <p:nvSpPr>
          <p:cNvPr id="22" name="Rectangle 21"/>
          <p:cNvSpPr/>
          <p:nvPr/>
        </p:nvSpPr>
        <p:spPr>
          <a:xfrm>
            <a:off x="6309360" y="6263640"/>
            <a:ext cx="274320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6281928"/>
            <a:ext cx="2560320" cy="411480"/>
          </a:xfrm>
          <a:prstGeom prst="rect">
            <a:avLst/>
          </a:prstGeom>
          <a:noFill/>
        </p:spPr>
        <p:txBody>
          <a:bodyPr wrap="square" lIns="0" tIns="0" rIns="0" bIns="0">
            <a:spAutoFit/>
          </a:bodyPr>
          <a:lstStyle/>
          <a:p>
            <a:pPr algn="ctr"/>
            <a:r>
              <a:rPr sz="1100" b="0" i="0">
                <a:solidFill>
                  <a:srgbClr val="009BE8"/>
                </a:solidFill>
                <a:latin typeface="Calibri"/>
              </a:rPr>
              <a:t>26.12 Cr  Total Folios</a:t>
            </a:r>
          </a:p>
        </p:txBody>
      </p:sp>
      <p:sp>
        <p:nvSpPr>
          <p:cNvPr id="24" name="Rectangle 23"/>
          <p:cNvSpPr/>
          <p:nvPr/>
        </p:nvSpPr>
        <p:spPr>
          <a:xfrm>
            <a:off x="9235440" y="6263640"/>
            <a:ext cx="274320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0" y="6281928"/>
            <a:ext cx="2560320" cy="411480"/>
          </a:xfrm>
          <a:prstGeom prst="rect">
            <a:avLst/>
          </a:prstGeom>
          <a:noFill/>
        </p:spPr>
        <p:txBody>
          <a:bodyPr wrap="square" lIns="0" tIns="0" rIns="0" bIns="0">
            <a:spAutoFit/>
          </a:bodyPr>
          <a:lstStyle/>
          <a:p>
            <a:pPr algn="ctr"/>
            <a:r>
              <a:rPr sz="1100" b="0" i="0">
                <a:solidFill>
                  <a:srgbClr val="009BE8"/>
                </a:solidFill>
                <a:latin typeface="Calibri"/>
              </a:rPr>
              <a:t>50+ hrs  Dev Effort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Business Problem</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Challenges Facing Retail Mutual Fund Investors in India</a:t>
            </a:r>
          </a:p>
        </p:txBody>
      </p:sp>
      <p:sp>
        <p:nvSpPr>
          <p:cNvPr id="6" name="Rounded Rectangle 5"/>
          <p:cNvSpPr/>
          <p:nvPr/>
        </p:nvSpPr>
        <p:spPr>
          <a:xfrm>
            <a:off x="365760" y="118872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30352" y="1389888"/>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389888"/>
            <a:ext cx="502920" cy="502920"/>
          </a:xfrm>
          <a:prstGeom prst="rect">
            <a:avLst/>
          </a:prstGeom>
          <a:noFill/>
        </p:spPr>
        <p:txBody>
          <a:bodyPr wrap="square" lIns="0" tIns="0" rIns="0" bIns="0">
            <a:spAutoFit/>
          </a:bodyPr>
          <a:lstStyle/>
          <a:p>
            <a:pPr algn="ctr"/>
            <a:r>
              <a:rPr sz="1300" b="1" i="0">
                <a:solidFill>
                  <a:srgbClr val="FFFFFF"/>
                </a:solidFill>
                <a:latin typeface="Calibri"/>
              </a:rPr>
              <a:t>01</a:t>
            </a:r>
          </a:p>
        </p:txBody>
      </p:sp>
      <p:sp>
        <p:nvSpPr>
          <p:cNvPr id="9" name="TextBox 8"/>
          <p:cNvSpPr txBox="1"/>
          <p:nvPr/>
        </p:nvSpPr>
        <p:spPr>
          <a:xfrm>
            <a:off x="1143000" y="1371600"/>
            <a:ext cx="4663440" cy="457200"/>
          </a:xfrm>
          <a:prstGeom prst="rect">
            <a:avLst/>
          </a:prstGeom>
          <a:noFill/>
        </p:spPr>
        <p:txBody>
          <a:bodyPr wrap="square" lIns="0" tIns="0" rIns="0" bIns="0">
            <a:spAutoFit/>
          </a:bodyPr>
          <a:lstStyle/>
          <a:p>
            <a:pPr algn="l"/>
            <a:r>
              <a:rPr sz="1400" b="1" i="0">
                <a:solidFill>
                  <a:srgbClr val="124E8A"/>
                </a:solidFill>
                <a:latin typeface="Calibri"/>
              </a:rPr>
              <a:t>Difficult Fund Comparison</a:t>
            </a:r>
          </a:p>
        </p:txBody>
      </p:sp>
      <p:sp>
        <p:nvSpPr>
          <p:cNvPr id="10" name="TextBox 9"/>
          <p:cNvSpPr txBox="1"/>
          <p:nvPr/>
        </p:nvSpPr>
        <p:spPr>
          <a:xfrm>
            <a:off x="530352" y="1938528"/>
            <a:ext cx="5257800" cy="1508760"/>
          </a:xfrm>
          <a:prstGeom prst="rect">
            <a:avLst/>
          </a:prstGeom>
          <a:noFill/>
        </p:spPr>
        <p:txBody>
          <a:bodyPr wrap="square" lIns="0" tIns="0" rIns="0" bIns="0">
            <a:spAutoFit/>
          </a:bodyPr>
          <a:lstStyle/>
          <a:p>
            <a:pPr algn="l"/>
            <a:r>
              <a:rPr sz="1200" b="0" i="0">
                <a:solidFill>
                  <a:srgbClr val="1A1A2E"/>
                </a:solidFill>
                <a:latin typeface="Calibri"/>
              </a:rPr>
              <a:t>Over 1,500+ mutual fund schemes exist in India. Comparing NAV growth, returns, and risk side-by-side across 40+ schemes simultaneously is virtually impossible without specialized tools.</a:t>
            </a:r>
          </a:p>
        </p:txBody>
      </p:sp>
      <p:sp>
        <p:nvSpPr>
          <p:cNvPr id="11" name="Rounded Rectangle 10"/>
          <p:cNvSpPr/>
          <p:nvPr/>
        </p:nvSpPr>
        <p:spPr>
          <a:xfrm>
            <a:off x="6263640" y="118872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28232" y="1389888"/>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28232" y="1389888"/>
            <a:ext cx="502920" cy="502920"/>
          </a:xfrm>
          <a:prstGeom prst="rect">
            <a:avLst/>
          </a:prstGeom>
          <a:noFill/>
        </p:spPr>
        <p:txBody>
          <a:bodyPr wrap="square" lIns="0" tIns="0" rIns="0" bIns="0">
            <a:spAutoFit/>
          </a:bodyPr>
          <a:lstStyle/>
          <a:p>
            <a:pPr algn="ctr"/>
            <a:r>
              <a:rPr sz="1300" b="1" i="0">
                <a:solidFill>
                  <a:srgbClr val="FFFFFF"/>
                </a:solidFill>
                <a:latin typeface="Calibri"/>
              </a:rPr>
              <a:t>02</a:t>
            </a:r>
          </a:p>
        </p:txBody>
      </p:sp>
      <p:sp>
        <p:nvSpPr>
          <p:cNvPr id="14" name="TextBox 13"/>
          <p:cNvSpPr txBox="1"/>
          <p:nvPr/>
        </p:nvSpPr>
        <p:spPr>
          <a:xfrm>
            <a:off x="7040880" y="1371600"/>
            <a:ext cx="4663440" cy="457200"/>
          </a:xfrm>
          <a:prstGeom prst="rect">
            <a:avLst/>
          </a:prstGeom>
          <a:noFill/>
        </p:spPr>
        <p:txBody>
          <a:bodyPr wrap="square" lIns="0" tIns="0" rIns="0" bIns="0">
            <a:spAutoFit/>
          </a:bodyPr>
          <a:lstStyle/>
          <a:p>
            <a:pPr algn="l"/>
            <a:r>
              <a:rPr sz="1400" b="1" i="0">
                <a:solidFill>
                  <a:srgbClr val="124E8A"/>
                </a:solidFill>
                <a:latin typeface="Calibri"/>
              </a:rPr>
              <a:t>Overwhelming NAV Data Volume</a:t>
            </a:r>
          </a:p>
        </p:txBody>
      </p:sp>
      <p:sp>
        <p:nvSpPr>
          <p:cNvPr id="15" name="TextBox 14"/>
          <p:cNvSpPr txBox="1"/>
          <p:nvPr/>
        </p:nvSpPr>
        <p:spPr>
          <a:xfrm>
            <a:off x="6428232" y="1938528"/>
            <a:ext cx="5257800" cy="1508760"/>
          </a:xfrm>
          <a:prstGeom prst="rect">
            <a:avLst/>
          </a:prstGeom>
          <a:noFill/>
        </p:spPr>
        <p:txBody>
          <a:bodyPr wrap="square" lIns="0" tIns="0" rIns="0" bIns="0">
            <a:spAutoFit/>
          </a:bodyPr>
          <a:lstStyle/>
          <a:p>
            <a:pPr algn="l"/>
            <a:r>
              <a:rPr sz="1200" b="0" i="0">
                <a:solidFill>
                  <a:srgbClr val="1A1A2E"/>
                </a:solidFill>
                <a:latin typeface="Calibri"/>
              </a:rPr>
              <a:t>AMFI publishes daily NAV for every scheme. For our 40-scheme, 4.5-year study, that means 87,000+ data rows—far too much for manual spreadsheet analysis.</a:t>
            </a:r>
          </a:p>
        </p:txBody>
      </p:sp>
      <p:sp>
        <p:nvSpPr>
          <p:cNvPr id="16" name="Rounded Rectangle 15"/>
          <p:cNvSpPr/>
          <p:nvPr/>
        </p:nvSpPr>
        <p:spPr>
          <a:xfrm>
            <a:off x="365760" y="379476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30352" y="3995928"/>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3995928"/>
            <a:ext cx="502920" cy="502920"/>
          </a:xfrm>
          <a:prstGeom prst="rect">
            <a:avLst/>
          </a:prstGeom>
          <a:noFill/>
        </p:spPr>
        <p:txBody>
          <a:bodyPr wrap="square" lIns="0" tIns="0" rIns="0" bIns="0">
            <a:spAutoFit/>
          </a:bodyPr>
          <a:lstStyle/>
          <a:p>
            <a:pPr algn="ctr"/>
            <a:r>
              <a:rPr sz="1300" b="1" i="0">
                <a:solidFill>
                  <a:srgbClr val="FFFFFF"/>
                </a:solidFill>
                <a:latin typeface="Calibri"/>
              </a:rPr>
              <a:t>03</a:t>
            </a:r>
          </a:p>
        </p:txBody>
      </p:sp>
      <p:sp>
        <p:nvSpPr>
          <p:cNvPr id="19" name="TextBox 18"/>
          <p:cNvSpPr txBox="1"/>
          <p:nvPr/>
        </p:nvSpPr>
        <p:spPr>
          <a:xfrm>
            <a:off x="1143000" y="3977640"/>
            <a:ext cx="4663440" cy="457200"/>
          </a:xfrm>
          <a:prstGeom prst="rect">
            <a:avLst/>
          </a:prstGeom>
          <a:noFill/>
        </p:spPr>
        <p:txBody>
          <a:bodyPr wrap="square" lIns="0" tIns="0" rIns="0" bIns="0">
            <a:spAutoFit/>
          </a:bodyPr>
          <a:lstStyle/>
          <a:p>
            <a:pPr algn="l"/>
            <a:r>
              <a:rPr sz="1400" b="1" i="0">
                <a:solidFill>
                  <a:srgbClr val="124E8A"/>
                </a:solidFill>
                <a:latin typeface="Calibri"/>
              </a:rPr>
              <a:t>Absence of Risk-Adjusted Metrics</a:t>
            </a:r>
          </a:p>
        </p:txBody>
      </p:sp>
      <p:sp>
        <p:nvSpPr>
          <p:cNvPr id="20" name="TextBox 19"/>
          <p:cNvSpPr txBox="1"/>
          <p:nvPr/>
        </p:nvSpPr>
        <p:spPr>
          <a:xfrm>
            <a:off x="530352" y="4544568"/>
            <a:ext cx="5257800" cy="1508760"/>
          </a:xfrm>
          <a:prstGeom prst="rect">
            <a:avLst/>
          </a:prstGeom>
          <a:noFill/>
        </p:spPr>
        <p:txBody>
          <a:bodyPr wrap="square" lIns="0" tIns="0" rIns="0" bIns="0">
            <a:spAutoFit/>
          </a:bodyPr>
          <a:lstStyle/>
          <a:p>
            <a:pPr algn="l"/>
            <a:r>
              <a:rPr sz="1200" b="0" i="0">
                <a:solidFill>
                  <a:srgbClr val="1A1A2E"/>
                </a:solidFill>
                <a:latin typeface="Calibri"/>
              </a:rPr>
              <a:t>Most investors only compare raw returns. Without Sharpe Ratio, Sortino Ratio, Alpha, Beta, and Max Drawdown, high-return funds with equally high risk appear deceptively attractive.</a:t>
            </a:r>
          </a:p>
        </p:txBody>
      </p:sp>
      <p:sp>
        <p:nvSpPr>
          <p:cNvPr id="21" name="Rounded Rectangle 20"/>
          <p:cNvSpPr/>
          <p:nvPr/>
        </p:nvSpPr>
        <p:spPr>
          <a:xfrm>
            <a:off x="6263640" y="379476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28232" y="3995928"/>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8232" y="3995928"/>
            <a:ext cx="502920" cy="502920"/>
          </a:xfrm>
          <a:prstGeom prst="rect">
            <a:avLst/>
          </a:prstGeom>
          <a:noFill/>
        </p:spPr>
        <p:txBody>
          <a:bodyPr wrap="square" lIns="0" tIns="0" rIns="0" bIns="0">
            <a:spAutoFit/>
          </a:bodyPr>
          <a:lstStyle/>
          <a:p>
            <a:pPr algn="ctr"/>
            <a:r>
              <a:rPr sz="1300" b="1" i="0">
                <a:solidFill>
                  <a:srgbClr val="FFFFFF"/>
                </a:solidFill>
                <a:latin typeface="Calibri"/>
              </a:rPr>
              <a:t>04</a:t>
            </a:r>
          </a:p>
        </p:txBody>
      </p:sp>
      <p:sp>
        <p:nvSpPr>
          <p:cNvPr id="24" name="TextBox 23"/>
          <p:cNvSpPr txBox="1"/>
          <p:nvPr/>
        </p:nvSpPr>
        <p:spPr>
          <a:xfrm>
            <a:off x="7040880" y="3977640"/>
            <a:ext cx="4663440" cy="457200"/>
          </a:xfrm>
          <a:prstGeom prst="rect">
            <a:avLst/>
          </a:prstGeom>
          <a:noFill/>
        </p:spPr>
        <p:txBody>
          <a:bodyPr wrap="square" lIns="0" tIns="0" rIns="0" bIns="0">
            <a:spAutoFit/>
          </a:bodyPr>
          <a:lstStyle/>
          <a:p>
            <a:pPr algn="l"/>
            <a:r>
              <a:rPr sz="1400" b="1" i="0">
                <a:solidFill>
                  <a:srgbClr val="124E8A"/>
                </a:solidFill>
                <a:latin typeface="Calibri"/>
              </a:rPr>
              <a:t>Time-Consuming Investment Research</a:t>
            </a:r>
          </a:p>
        </p:txBody>
      </p:sp>
      <p:sp>
        <p:nvSpPr>
          <p:cNvPr id="25" name="TextBox 24"/>
          <p:cNvSpPr txBox="1"/>
          <p:nvPr/>
        </p:nvSpPr>
        <p:spPr>
          <a:xfrm>
            <a:off x="6428232" y="4544568"/>
            <a:ext cx="5257800" cy="1508760"/>
          </a:xfrm>
          <a:prstGeom prst="rect">
            <a:avLst/>
          </a:prstGeom>
          <a:noFill/>
        </p:spPr>
        <p:txBody>
          <a:bodyPr wrap="square" lIns="0" tIns="0" rIns="0" bIns="0">
            <a:spAutoFit/>
          </a:bodyPr>
          <a:lstStyle/>
          <a:p>
            <a:pPr algn="l"/>
            <a:r>
              <a:rPr sz="1200" b="0" i="0">
                <a:solidFill>
                  <a:srgbClr val="1A1A2E"/>
                </a:solidFill>
                <a:latin typeface="Calibri"/>
              </a:rPr>
              <a:t>A thorough fund evaluation—gathering data, cleaning it, computing metrics, benchmarking—takes days manually. Investors need this in minutes, not days.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Business Objectives</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Four Strategic Goals Guiding Project Design &amp; Execution</a:t>
            </a:r>
          </a:p>
        </p:txBody>
      </p:sp>
      <p:sp>
        <p:nvSpPr>
          <p:cNvPr id="6" name="Oval 5"/>
          <p:cNvSpPr/>
          <p:nvPr/>
        </p:nvSpPr>
        <p:spPr>
          <a:xfrm>
            <a:off x="320040" y="1463040"/>
            <a:ext cx="457200" cy="45720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463040"/>
            <a:ext cx="457200" cy="457200"/>
          </a:xfrm>
          <a:prstGeom prst="rect">
            <a:avLst/>
          </a:prstGeom>
          <a:noFill/>
        </p:spPr>
        <p:txBody>
          <a:bodyPr wrap="square" lIns="0" tIns="0" rIns="0" bIns="0">
            <a:spAutoFit/>
          </a:bodyPr>
          <a:lstStyle/>
          <a:p>
            <a:pPr algn="ctr"/>
            <a:r>
              <a:rPr sz="1300" b="1" i="0">
                <a:solidFill>
                  <a:srgbClr val="FFFFFF"/>
                </a:solidFill>
                <a:latin typeface="Calibri"/>
              </a:rPr>
              <a:t>1</a:t>
            </a:r>
          </a:p>
        </p:txBody>
      </p:sp>
      <p:sp>
        <p:nvSpPr>
          <p:cNvPr id="8" name="Rectangle 7"/>
          <p:cNvSpPr/>
          <p:nvPr/>
        </p:nvSpPr>
        <p:spPr>
          <a:xfrm>
            <a:off x="521207" y="1920240"/>
            <a:ext cx="54864" cy="640080"/>
          </a:xfrm>
          <a:prstGeom prst="rect">
            <a:avLst/>
          </a:prstGeom>
          <a:solidFill>
            <a:srgbClr val="445B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1234440"/>
            <a:ext cx="107899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1307592"/>
            <a:ext cx="10241280" cy="457200"/>
          </a:xfrm>
          <a:prstGeom prst="rect">
            <a:avLst/>
          </a:prstGeom>
          <a:noFill/>
        </p:spPr>
        <p:txBody>
          <a:bodyPr wrap="square" lIns="0" tIns="0" rIns="0" bIns="0">
            <a:spAutoFit/>
          </a:bodyPr>
          <a:lstStyle/>
          <a:p>
            <a:pPr algn="l"/>
            <a:r>
              <a:rPr sz="1400" b="1" i="0">
                <a:solidFill>
                  <a:srgbClr val="124E8A"/>
                </a:solidFill>
                <a:latin typeface="Calibri"/>
              </a:rPr>
              <a:t>Analyze 40+ Fund Schemes</a:t>
            </a:r>
          </a:p>
        </p:txBody>
      </p:sp>
      <p:sp>
        <p:nvSpPr>
          <p:cNvPr id="11" name="TextBox 10"/>
          <p:cNvSpPr txBox="1"/>
          <p:nvPr/>
        </p:nvSpPr>
        <p:spPr>
          <a:xfrm>
            <a:off x="1143000" y="1764792"/>
            <a:ext cx="10241280" cy="566928"/>
          </a:xfrm>
          <a:prstGeom prst="rect">
            <a:avLst/>
          </a:prstGeom>
          <a:noFill/>
        </p:spPr>
        <p:txBody>
          <a:bodyPr wrap="square" lIns="0" tIns="0" rIns="0" bIns="0">
            <a:spAutoFit/>
          </a:bodyPr>
          <a:lstStyle/>
          <a:p>
            <a:pPr algn="l"/>
            <a:r>
              <a:rPr sz="1200" b="0" i="0">
                <a:solidFill>
                  <a:srgbClr val="1A1A2E"/>
                </a:solidFill>
                <a:latin typeface="Calibri"/>
              </a:rPr>
              <a:t>Cover all major categories—Large Cap, Mid Cap, Small Cap, Hybrid, Debt, ELSS—with 4.5 years of daily NAV history from AMFI India (Jan 2022 – May 2026).</a:t>
            </a:r>
          </a:p>
        </p:txBody>
      </p:sp>
      <p:sp>
        <p:nvSpPr>
          <p:cNvPr id="12" name="Oval 11"/>
          <p:cNvSpPr/>
          <p:nvPr/>
        </p:nvSpPr>
        <p:spPr>
          <a:xfrm>
            <a:off x="320040" y="2788920"/>
            <a:ext cx="457200" cy="45720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040" y="2788920"/>
            <a:ext cx="457200" cy="457200"/>
          </a:xfrm>
          <a:prstGeom prst="rect">
            <a:avLst/>
          </a:prstGeom>
          <a:noFill/>
        </p:spPr>
        <p:txBody>
          <a:bodyPr wrap="square" lIns="0" tIns="0" rIns="0" bIns="0">
            <a:spAutoFit/>
          </a:bodyPr>
          <a:lstStyle/>
          <a:p>
            <a:pPr algn="ctr"/>
            <a:r>
              <a:rPr sz="1300" b="1" i="0">
                <a:solidFill>
                  <a:srgbClr val="FFFFFF"/>
                </a:solidFill>
                <a:latin typeface="Calibri"/>
              </a:rPr>
              <a:t>2</a:t>
            </a:r>
          </a:p>
        </p:txBody>
      </p:sp>
      <p:sp>
        <p:nvSpPr>
          <p:cNvPr id="14" name="Rectangle 13"/>
          <p:cNvSpPr/>
          <p:nvPr/>
        </p:nvSpPr>
        <p:spPr>
          <a:xfrm>
            <a:off x="521207" y="3246120"/>
            <a:ext cx="54864" cy="640080"/>
          </a:xfrm>
          <a:prstGeom prst="rect">
            <a:avLst/>
          </a:prstGeom>
          <a:solidFill>
            <a:srgbClr val="445B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0120" y="2560320"/>
            <a:ext cx="107899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2633472"/>
            <a:ext cx="10241280" cy="457200"/>
          </a:xfrm>
          <a:prstGeom prst="rect">
            <a:avLst/>
          </a:prstGeom>
          <a:noFill/>
        </p:spPr>
        <p:txBody>
          <a:bodyPr wrap="square" lIns="0" tIns="0" rIns="0" bIns="0">
            <a:spAutoFit/>
          </a:bodyPr>
          <a:lstStyle/>
          <a:p>
            <a:pPr algn="l"/>
            <a:r>
              <a:rPr sz="1400" b="1" i="0">
                <a:solidFill>
                  <a:srgbClr val="124E8A"/>
                </a:solidFill>
                <a:latin typeface="Calibri"/>
              </a:rPr>
              <a:t>Calculate 9+ Performance Metrics</a:t>
            </a:r>
          </a:p>
        </p:txBody>
      </p:sp>
      <p:sp>
        <p:nvSpPr>
          <p:cNvPr id="17" name="TextBox 16"/>
          <p:cNvSpPr txBox="1"/>
          <p:nvPr/>
        </p:nvSpPr>
        <p:spPr>
          <a:xfrm>
            <a:off x="1143000" y="3090672"/>
            <a:ext cx="10241280" cy="566928"/>
          </a:xfrm>
          <a:prstGeom prst="rect">
            <a:avLst/>
          </a:prstGeom>
          <a:noFill/>
        </p:spPr>
        <p:txBody>
          <a:bodyPr wrap="square" lIns="0" tIns="0" rIns="0" bIns="0">
            <a:spAutoFit/>
          </a:bodyPr>
          <a:lstStyle/>
          <a:p>
            <a:pPr algn="l"/>
            <a:r>
              <a:rPr sz="1200" b="0" i="0">
                <a:solidFill>
                  <a:srgbClr val="1A1A2E"/>
                </a:solidFill>
                <a:latin typeface="Calibri"/>
              </a:rPr>
              <a:t>Compute CAGR (1yr/3yr/5yr), Sharpe Ratio, Sortino Ratio, Alpha vs Nifty 100, Beta, Max Drawdown, VaR (95%), CVaR, and a composite Scorecard (0–100).</a:t>
            </a:r>
          </a:p>
        </p:txBody>
      </p:sp>
      <p:sp>
        <p:nvSpPr>
          <p:cNvPr id="18" name="Oval 17"/>
          <p:cNvSpPr/>
          <p:nvPr/>
        </p:nvSpPr>
        <p:spPr>
          <a:xfrm>
            <a:off x="320040" y="4114800"/>
            <a:ext cx="457200" cy="45720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 y="4114800"/>
            <a:ext cx="457200" cy="457200"/>
          </a:xfrm>
          <a:prstGeom prst="rect">
            <a:avLst/>
          </a:prstGeom>
          <a:noFill/>
        </p:spPr>
        <p:txBody>
          <a:bodyPr wrap="square" lIns="0" tIns="0" rIns="0" bIns="0">
            <a:spAutoFit/>
          </a:bodyPr>
          <a:lstStyle/>
          <a:p>
            <a:pPr algn="ctr"/>
            <a:r>
              <a:rPr sz="1300" b="1" i="0">
                <a:solidFill>
                  <a:srgbClr val="FFFFFF"/>
                </a:solidFill>
                <a:latin typeface="Calibri"/>
              </a:rPr>
              <a:t>3</a:t>
            </a:r>
          </a:p>
        </p:txBody>
      </p:sp>
      <p:sp>
        <p:nvSpPr>
          <p:cNvPr id="20" name="Rectangle 19"/>
          <p:cNvSpPr/>
          <p:nvPr/>
        </p:nvSpPr>
        <p:spPr>
          <a:xfrm>
            <a:off x="521207" y="4572000"/>
            <a:ext cx="54864" cy="640080"/>
          </a:xfrm>
          <a:prstGeom prst="rect">
            <a:avLst/>
          </a:prstGeom>
          <a:solidFill>
            <a:srgbClr val="445B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60120" y="3886200"/>
            <a:ext cx="107899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3000" y="3959352"/>
            <a:ext cx="10241280" cy="457200"/>
          </a:xfrm>
          <a:prstGeom prst="rect">
            <a:avLst/>
          </a:prstGeom>
          <a:noFill/>
        </p:spPr>
        <p:txBody>
          <a:bodyPr wrap="square" lIns="0" tIns="0" rIns="0" bIns="0">
            <a:spAutoFit/>
          </a:bodyPr>
          <a:lstStyle/>
          <a:p>
            <a:pPr algn="l"/>
            <a:r>
              <a:rPr sz="1400" b="1" i="0">
                <a:solidFill>
                  <a:srgbClr val="124E8A"/>
                </a:solidFill>
                <a:latin typeface="Calibri"/>
              </a:rPr>
              <a:t>Enable Multi-Dimensional Comparison</a:t>
            </a:r>
          </a:p>
        </p:txBody>
      </p:sp>
      <p:sp>
        <p:nvSpPr>
          <p:cNvPr id="23" name="TextBox 22"/>
          <p:cNvSpPr txBox="1"/>
          <p:nvPr/>
        </p:nvSpPr>
        <p:spPr>
          <a:xfrm>
            <a:off x="1143000" y="4416552"/>
            <a:ext cx="10241280" cy="566928"/>
          </a:xfrm>
          <a:prstGeom prst="rect">
            <a:avLst/>
          </a:prstGeom>
          <a:noFill/>
        </p:spPr>
        <p:txBody>
          <a:bodyPr wrap="square" lIns="0" tIns="0" rIns="0" bIns="0">
            <a:spAutoFit/>
          </a:bodyPr>
          <a:lstStyle/>
          <a:p>
            <a:pPr algn="l"/>
            <a:r>
              <a:rPr sz="1200" b="0" i="0">
                <a:solidFill>
                  <a:srgbClr val="1A1A2E"/>
                </a:solidFill>
                <a:latin typeface="Calibri"/>
              </a:rPr>
              <a:t>Build a cross-fund comparison engine allowing investors to rank funds by any metric, filter by category/risk/fund-house, and benchmark against Nifty 50/100 indices.</a:t>
            </a:r>
          </a:p>
        </p:txBody>
      </p:sp>
      <p:sp>
        <p:nvSpPr>
          <p:cNvPr id="24" name="Oval 23"/>
          <p:cNvSpPr/>
          <p:nvPr/>
        </p:nvSpPr>
        <p:spPr>
          <a:xfrm>
            <a:off x="320040" y="5440679"/>
            <a:ext cx="457200" cy="45720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0040" y="5440679"/>
            <a:ext cx="457200" cy="457200"/>
          </a:xfrm>
          <a:prstGeom prst="rect">
            <a:avLst/>
          </a:prstGeom>
          <a:noFill/>
        </p:spPr>
        <p:txBody>
          <a:bodyPr wrap="square" lIns="0" tIns="0" rIns="0" bIns="0">
            <a:spAutoFit/>
          </a:bodyPr>
          <a:lstStyle/>
          <a:p>
            <a:pPr algn="ctr"/>
            <a:r>
              <a:rPr sz="1300" b="1" i="0">
                <a:solidFill>
                  <a:srgbClr val="FFFFFF"/>
                </a:solidFill>
                <a:latin typeface="Calibri"/>
              </a:rPr>
              <a:t>4</a:t>
            </a:r>
          </a:p>
        </p:txBody>
      </p:sp>
      <p:sp>
        <p:nvSpPr>
          <p:cNvPr id="26" name="Rounded Rectangle 25"/>
          <p:cNvSpPr/>
          <p:nvPr/>
        </p:nvSpPr>
        <p:spPr>
          <a:xfrm>
            <a:off x="960120" y="5212079"/>
            <a:ext cx="107899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43000" y="5285231"/>
            <a:ext cx="10241280" cy="457200"/>
          </a:xfrm>
          <a:prstGeom prst="rect">
            <a:avLst/>
          </a:prstGeom>
          <a:noFill/>
        </p:spPr>
        <p:txBody>
          <a:bodyPr wrap="square" lIns="0" tIns="0" rIns="0" bIns="0">
            <a:spAutoFit/>
          </a:bodyPr>
          <a:lstStyle/>
          <a:p>
            <a:pPr algn="l"/>
            <a:r>
              <a:rPr sz="1400" b="1" i="0">
                <a:solidFill>
                  <a:srgbClr val="124E8A"/>
                </a:solidFill>
                <a:latin typeface="Calibri"/>
              </a:rPr>
              <a:t>Deliver Investor-Friendly Dashboard</a:t>
            </a:r>
          </a:p>
        </p:txBody>
      </p:sp>
      <p:sp>
        <p:nvSpPr>
          <p:cNvPr id="28" name="TextBox 27"/>
          <p:cNvSpPr txBox="1"/>
          <p:nvPr/>
        </p:nvSpPr>
        <p:spPr>
          <a:xfrm>
            <a:off x="1143000" y="5742431"/>
            <a:ext cx="10241280" cy="566928"/>
          </a:xfrm>
          <a:prstGeom prst="rect">
            <a:avLst/>
          </a:prstGeom>
          <a:noFill/>
        </p:spPr>
        <p:txBody>
          <a:bodyPr wrap="square" lIns="0" tIns="0" rIns="0" bIns="0">
            <a:spAutoFit/>
          </a:bodyPr>
          <a:lstStyle/>
          <a:p>
            <a:pPr algn="l"/>
            <a:r>
              <a:rPr sz="1200" b="0" i="0">
                <a:solidFill>
                  <a:srgbClr val="1A1A2E"/>
                </a:solidFill>
                <a:latin typeface="Calibri"/>
              </a:rPr>
              <a:t>Surface all insights in a 4-page interactive Power BI dashboard with KPI cards, dynamic slicers, risk-return scatter plots, and a rule-based fund recommender.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Dataset Overview</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Real-World AMFI India Data · mfapi.in · NSE · BSE</a:t>
            </a:r>
          </a:p>
        </p:txBody>
      </p:sp>
      <p:sp>
        <p:nvSpPr>
          <p:cNvPr id="6" name="Rounded Rectangle 5"/>
          <p:cNvSpPr/>
          <p:nvPr/>
        </p:nvSpPr>
        <p:spPr>
          <a:xfrm>
            <a:off x="320040" y="1188720"/>
            <a:ext cx="3200400" cy="9144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1280160" cy="594360"/>
          </a:xfrm>
          <a:prstGeom prst="rect">
            <a:avLst/>
          </a:prstGeom>
          <a:noFill/>
        </p:spPr>
        <p:txBody>
          <a:bodyPr wrap="square" lIns="0" tIns="0" rIns="0" bIns="0">
            <a:spAutoFit/>
          </a:bodyPr>
          <a:lstStyle/>
          <a:p>
            <a:pPr algn="l"/>
            <a:r>
              <a:rPr sz="2600" b="1" i="0">
                <a:solidFill>
                  <a:srgbClr val="124E8A"/>
                </a:solidFill>
                <a:latin typeface="Cambria"/>
              </a:rPr>
              <a:t>40</a:t>
            </a:r>
          </a:p>
        </p:txBody>
      </p:sp>
      <p:sp>
        <p:nvSpPr>
          <p:cNvPr id="8" name="TextBox 7"/>
          <p:cNvSpPr txBox="1"/>
          <p:nvPr/>
        </p:nvSpPr>
        <p:spPr>
          <a:xfrm>
            <a:off x="1783080" y="1371600"/>
            <a:ext cx="1645920" cy="502920"/>
          </a:xfrm>
          <a:prstGeom prst="rect">
            <a:avLst/>
          </a:prstGeom>
          <a:noFill/>
        </p:spPr>
        <p:txBody>
          <a:bodyPr wrap="square" lIns="0" tIns="0" rIns="0" bIns="0">
            <a:spAutoFit/>
          </a:bodyPr>
          <a:lstStyle/>
          <a:p>
            <a:pPr algn="l"/>
            <a:r>
              <a:rPr sz="1200" b="0" i="0">
                <a:solidFill>
                  <a:srgbClr val="445B7C"/>
                </a:solidFill>
                <a:latin typeface="Calibri"/>
              </a:rPr>
              <a:t>Mutual Fund Schemes</a:t>
            </a:r>
          </a:p>
        </p:txBody>
      </p:sp>
      <p:sp>
        <p:nvSpPr>
          <p:cNvPr id="9" name="Rounded Rectangle 8"/>
          <p:cNvSpPr/>
          <p:nvPr/>
        </p:nvSpPr>
        <p:spPr>
          <a:xfrm>
            <a:off x="320040" y="2240280"/>
            <a:ext cx="3200400" cy="9144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286000"/>
            <a:ext cx="1280160" cy="594360"/>
          </a:xfrm>
          <a:prstGeom prst="rect">
            <a:avLst/>
          </a:prstGeom>
          <a:noFill/>
        </p:spPr>
        <p:txBody>
          <a:bodyPr wrap="square" lIns="0" tIns="0" rIns="0" bIns="0">
            <a:spAutoFit/>
          </a:bodyPr>
          <a:lstStyle/>
          <a:p>
            <a:pPr algn="l"/>
            <a:r>
              <a:rPr sz="2600" b="1" i="0">
                <a:solidFill>
                  <a:srgbClr val="124E8A"/>
                </a:solidFill>
                <a:latin typeface="Cambria"/>
              </a:rPr>
              <a:t>87,000+</a:t>
            </a:r>
          </a:p>
        </p:txBody>
      </p:sp>
      <p:sp>
        <p:nvSpPr>
          <p:cNvPr id="11" name="TextBox 10"/>
          <p:cNvSpPr txBox="1"/>
          <p:nvPr/>
        </p:nvSpPr>
        <p:spPr>
          <a:xfrm>
            <a:off x="1783080" y="2423160"/>
            <a:ext cx="1645920" cy="502920"/>
          </a:xfrm>
          <a:prstGeom prst="rect">
            <a:avLst/>
          </a:prstGeom>
          <a:noFill/>
        </p:spPr>
        <p:txBody>
          <a:bodyPr wrap="square" lIns="0" tIns="0" rIns="0" bIns="0">
            <a:spAutoFit/>
          </a:bodyPr>
          <a:lstStyle/>
          <a:p>
            <a:pPr algn="l"/>
            <a:r>
              <a:rPr sz="1200" b="0" i="0">
                <a:solidFill>
                  <a:srgbClr val="445B7C"/>
                </a:solidFill>
                <a:latin typeface="Calibri"/>
              </a:rPr>
              <a:t>Total Data Rows</a:t>
            </a:r>
          </a:p>
        </p:txBody>
      </p:sp>
      <p:sp>
        <p:nvSpPr>
          <p:cNvPr id="12" name="Rounded Rectangle 11"/>
          <p:cNvSpPr/>
          <p:nvPr/>
        </p:nvSpPr>
        <p:spPr>
          <a:xfrm>
            <a:off x="320040" y="3291839"/>
            <a:ext cx="3200400" cy="9144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337559"/>
            <a:ext cx="1280160" cy="594360"/>
          </a:xfrm>
          <a:prstGeom prst="rect">
            <a:avLst/>
          </a:prstGeom>
          <a:noFill/>
        </p:spPr>
        <p:txBody>
          <a:bodyPr wrap="square" lIns="0" tIns="0" rIns="0" bIns="0">
            <a:spAutoFit/>
          </a:bodyPr>
          <a:lstStyle/>
          <a:p>
            <a:pPr algn="l"/>
            <a:r>
              <a:rPr sz="2600" b="1" i="0">
                <a:solidFill>
                  <a:srgbClr val="124E8A"/>
                </a:solidFill>
                <a:latin typeface="Cambria"/>
              </a:rPr>
              <a:t>10</a:t>
            </a:r>
          </a:p>
        </p:txBody>
      </p:sp>
      <p:sp>
        <p:nvSpPr>
          <p:cNvPr id="14" name="TextBox 13"/>
          <p:cNvSpPr txBox="1"/>
          <p:nvPr/>
        </p:nvSpPr>
        <p:spPr>
          <a:xfrm>
            <a:off x="1783080" y="3474720"/>
            <a:ext cx="1645920" cy="502920"/>
          </a:xfrm>
          <a:prstGeom prst="rect">
            <a:avLst/>
          </a:prstGeom>
          <a:noFill/>
        </p:spPr>
        <p:txBody>
          <a:bodyPr wrap="square" lIns="0" tIns="0" rIns="0" bIns="0">
            <a:spAutoFit/>
          </a:bodyPr>
          <a:lstStyle/>
          <a:p>
            <a:pPr algn="l"/>
            <a:r>
              <a:rPr sz="1200" b="0" i="0">
                <a:solidFill>
                  <a:srgbClr val="445B7C"/>
                </a:solidFill>
                <a:latin typeface="Calibri"/>
              </a:rPr>
              <a:t>Processed CSV Files</a:t>
            </a:r>
          </a:p>
        </p:txBody>
      </p:sp>
      <p:sp>
        <p:nvSpPr>
          <p:cNvPr id="15" name="Rounded Rectangle 14"/>
          <p:cNvSpPr/>
          <p:nvPr/>
        </p:nvSpPr>
        <p:spPr>
          <a:xfrm>
            <a:off x="320040" y="4343400"/>
            <a:ext cx="3200400" cy="9144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4389120"/>
            <a:ext cx="1280160" cy="594360"/>
          </a:xfrm>
          <a:prstGeom prst="rect">
            <a:avLst/>
          </a:prstGeom>
          <a:noFill/>
        </p:spPr>
        <p:txBody>
          <a:bodyPr wrap="square" lIns="0" tIns="0" rIns="0" bIns="0">
            <a:spAutoFit/>
          </a:bodyPr>
          <a:lstStyle/>
          <a:p>
            <a:pPr algn="l"/>
            <a:r>
              <a:rPr sz="2600" b="1" i="0">
                <a:solidFill>
                  <a:srgbClr val="124E8A"/>
                </a:solidFill>
                <a:latin typeface="Cambria"/>
              </a:rPr>
              <a:t>8</a:t>
            </a:r>
          </a:p>
        </p:txBody>
      </p:sp>
      <p:sp>
        <p:nvSpPr>
          <p:cNvPr id="17" name="TextBox 16"/>
          <p:cNvSpPr txBox="1"/>
          <p:nvPr/>
        </p:nvSpPr>
        <p:spPr>
          <a:xfrm>
            <a:off x="1783080" y="4526280"/>
            <a:ext cx="1645920" cy="502920"/>
          </a:xfrm>
          <a:prstGeom prst="rect">
            <a:avLst/>
          </a:prstGeom>
          <a:noFill/>
        </p:spPr>
        <p:txBody>
          <a:bodyPr wrap="square" lIns="0" tIns="0" rIns="0" bIns="0">
            <a:spAutoFit/>
          </a:bodyPr>
          <a:lstStyle/>
          <a:p>
            <a:pPr algn="l"/>
            <a:r>
              <a:rPr sz="1200" b="0" i="0">
                <a:solidFill>
                  <a:srgbClr val="445B7C"/>
                </a:solidFill>
                <a:latin typeface="Calibri"/>
              </a:rPr>
              <a:t>Star-Schema DB Tables</a:t>
            </a:r>
          </a:p>
        </p:txBody>
      </p:sp>
      <p:sp>
        <p:nvSpPr>
          <p:cNvPr id="18" name="Rounded Rectangle 17"/>
          <p:cNvSpPr/>
          <p:nvPr/>
        </p:nvSpPr>
        <p:spPr>
          <a:xfrm>
            <a:off x="320040" y="5394959"/>
            <a:ext cx="3200400" cy="9144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440679"/>
            <a:ext cx="1280160" cy="594360"/>
          </a:xfrm>
          <a:prstGeom prst="rect">
            <a:avLst/>
          </a:prstGeom>
          <a:noFill/>
        </p:spPr>
        <p:txBody>
          <a:bodyPr wrap="square" lIns="0" tIns="0" rIns="0" bIns="0">
            <a:spAutoFit/>
          </a:bodyPr>
          <a:lstStyle/>
          <a:p>
            <a:pPr algn="l"/>
            <a:r>
              <a:rPr sz="2600" b="1" i="0">
                <a:solidFill>
                  <a:srgbClr val="124E8A"/>
                </a:solidFill>
                <a:latin typeface="Cambria"/>
              </a:rPr>
              <a:t>4.5 Yrs</a:t>
            </a:r>
          </a:p>
        </p:txBody>
      </p:sp>
      <p:sp>
        <p:nvSpPr>
          <p:cNvPr id="20" name="TextBox 19"/>
          <p:cNvSpPr txBox="1"/>
          <p:nvPr/>
        </p:nvSpPr>
        <p:spPr>
          <a:xfrm>
            <a:off x="1783080" y="5577840"/>
            <a:ext cx="1645920" cy="502920"/>
          </a:xfrm>
          <a:prstGeom prst="rect">
            <a:avLst/>
          </a:prstGeom>
          <a:noFill/>
        </p:spPr>
        <p:txBody>
          <a:bodyPr wrap="square" lIns="0" tIns="0" rIns="0" bIns="0">
            <a:spAutoFit/>
          </a:bodyPr>
          <a:lstStyle/>
          <a:p>
            <a:pPr algn="l"/>
            <a:r>
              <a:rPr sz="1200" b="0" i="0">
                <a:solidFill>
                  <a:srgbClr val="445B7C"/>
                </a:solidFill>
                <a:latin typeface="Calibri"/>
              </a:rPr>
              <a:t>NAV History (Jan 2022–May 2026)</a:t>
            </a:r>
          </a:p>
        </p:txBody>
      </p:sp>
      <p:sp>
        <p:nvSpPr>
          <p:cNvPr id="21" name="TextBox 20"/>
          <p:cNvSpPr txBox="1"/>
          <p:nvPr/>
        </p:nvSpPr>
        <p:spPr>
          <a:xfrm>
            <a:off x="3931920" y="1143000"/>
            <a:ext cx="7863840" cy="457200"/>
          </a:xfrm>
          <a:prstGeom prst="rect">
            <a:avLst/>
          </a:prstGeom>
          <a:noFill/>
        </p:spPr>
        <p:txBody>
          <a:bodyPr wrap="square" lIns="0" tIns="0" rIns="0" bIns="0">
            <a:spAutoFit/>
          </a:bodyPr>
          <a:lstStyle/>
          <a:p>
            <a:pPr algn="l"/>
            <a:r>
              <a:rPr sz="1400" b="1" i="0">
                <a:solidFill>
                  <a:srgbClr val="124E8A"/>
                </a:solidFill>
                <a:latin typeface="Calibri"/>
              </a:rPr>
              <a:t>Key Data Attributes</a:t>
            </a:r>
          </a:p>
        </p:txBody>
      </p:sp>
      <p:sp>
        <p:nvSpPr>
          <p:cNvPr id="22" name="Rectangle 21"/>
          <p:cNvSpPr/>
          <p:nvPr/>
        </p:nvSpPr>
        <p:spPr>
          <a:xfrm>
            <a:off x="3931920" y="1691640"/>
            <a:ext cx="1828800" cy="42976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05072" y="1764792"/>
            <a:ext cx="1737360" cy="356615"/>
          </a:xfrm>
          <a:prstGeom prst="rect">
            <a:avLst/>
          </a:prstGeom>
          <a:noFill/>
        </p:spPr>
        <p:txBody>
          <a:bodyPr wrap="square" lIns="0" tIns="0" rIns="0" bIns="0">
            <a:spAutoFit/>
          </a:bodyPr>
          <a:lstStyle/>
          <a:p>
            <a:pPr algn="l"/>
            <a:r>
              <a:rPr sz="1100" b="1" i="0">
                <a:solidFill>
                  <a:srgbClr val="FFFFFF"/>
                </a:solidFill>
                <a:latin typeface="Calibri"/>
              </a:rPr>
              <a:t>Attribute</a:t>
            </a:r>
          </a:p>
        </p:txBody>
      </p:sp>
      <p:sp>
        <p:nvSpPr>
          <p:cNvPr id="24" name="Rectangle 23"/>
          <p:cNvSpPr/>
          <p:nvPr/>
        </p:nvSpPr>
        <p:spPr>
          <a:xfrm>
            <a:off x="5760720" y="1691640"/>
            <a:ext cx="3291840" cy="42976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3872" y="1764792"/>
            <a:ext cx="3200400" cy="356615"/>
          </a:xfrm>
          <a:prstGeom prst="rect">
            <a:avLst/>
          </a:prstGeom>
          <a:noFill/>
        </p:spPr>
        <p:txBody>
          <a:bodyPr wrap="square" lIns="0" tIns="0" rIns="0" bIns="0">
            <a:spAutoFit/>
          </a:bodyPr>
          <a:lstStyle/>
          <a:p>
            <a:pPr algn="l"/>
            <a:r>
              <a:rPr sz="1100" b="1" i="0">
                <a:solidFill>
                  <a:srgbClr val="FFFFFF"/>
                </a:solidFill>
                <a:latin typeface="Calibri"/>
              </a:rPr>
              <a:t>Description</a:t>
            </a:r>
          </a:p>
        </p:txBody>
      </p:sp>
      <p:sp>
        <p:nvSpPr>
          <p:cNvPr id="26" name="Rectangle 25"/>
          <p:cNvSpPr/>
          <p:nvPr/>
        </p:nvSpPr>
        <p:spPr>
          <a:xfrm>
            <a:off x="9052559" y="1691640"/>
            <a:ext cx="2011680" cy="42976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25711" y="1764792"/>
            <a:ext cx="1920240" cy="356615"/>
          </a:xfrm>
          <a:prstGeom prst="rect">
            <a:avLst/>
          </a:prstGeom>
          <a:noFill/>
        </p:spPr>
        <p:txBody>
          <a:bodyPr wrap="square" lIns="0" tIns="0" rIns="0" bIns="0">
            <a:spAutoFit/>
          </a:bodyPr>
          <a:lstStyle/>
          <a:p>
            <a:pPr algn="l"/>
            <a:r>
              <a:rPr sz="1100" b="1" i="0">
                <a:solidFill>
                  <a:srgbClr val="FFFFFF"/>
                </a:solidFill>
                <a:latin typeface="Calibri"/>
              </a:rPr>
              <a:t>Source</a:t>
            </a:r>
          </a:p>
        </p:txBody>
      </p:sp>
      <p:sp>
        <p:nvSpPr>
          <p:cNvPr id="28" name="Rectangle 27"/>
          <p:cNvSpPr/>
          <p:nvPr/>
        </p:nvSpPr>
        <p:spPr>
          <a:xfrm>
            <a:off x="3931920" y="2121408"/>
            <a:ext cx="182880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005072" y="2194560"/>
            <a:ext cx="1737360" cy="356615"/>
          </a:xfrm>
          <a:prstGeom prst="rect">
            <a:avLst/>
          </a:prstGeom>
          <a:noFill/>
        </p:spPr>
        <p:txBody>
          <a:bodyPr wrap="square" lIns="0" tIns="0" rIns="0" bIns="0">
            <a:spAutoFit/>
          </a:bodyPr>
          <a:lstStyle/>
          <a:p>
            <a:pPr algn="l"/>
            <a:r>
              <a:rPr sz="1100" b="0" i="0">
                <a:solidFill>
                  <a:srgbClr val="1A1A2E"/>
                </a:solidFill>
                <a:latin typeface="Calibri"/>
              </a:rPr>
              <a:t>amfi_code</a:t>
            </a:r>
          </a:p>
        </p:txBody>
      </p:sp>
      <p:sp>
        <p:nvSpPr>
          <p:cNvPr id="30" name="Rectangle 29"/>
          <p:cNvSpPr/>
          <p:nvPr/>
        </p:nvSpPr>
        <p:spPr>
          <a:xfrm>
            <a:off x="5760720" y="2121408"/>
            <a:ext cx="32918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33872" y="2194560"/>
            <a:ext cx="3200400" cy="356615"/>
          </a:xfrm>
          <a:prstGeom prst="rect">
            <a:avLst/>
          </a:prstGeom>
          <a:noFill/>
        </p:spPr>
        <p:txBody>
          <a:bodyPr wrap="square" lIns="0" tIns="0" rIns="0" bIns="0">
            <a:spAutoFit/>
          </a:bodyPr>
          <a:lstStyle/>
          <a:p>
            <a:pPr algn="l"/>
            <a:r>
              <a:rPr sz="1100" b="0" i="0">
                <a:solidFill>
                  <a:srgbClr val="1A1A2E"/>
                </a:solidFill>
                <a:latin typeface="Calibri"/>
              </a:rPr>
              <a:t>Unique fund identifier</a:t>
            </a:r>
          </a:p>
        </p:txBody>
      </p:sp>
      <p:sp>
        <p:nvSpPr>
          <p:cNvPr id="32" name="Rectangle 31"/>
          <p:cNvSpPr/>
          <p:nvPr/>
        </p:nvSpPr>
        <p:spPr>
          <a:xfrm>
            <a:off x="9052559" y="2121408"/>
            <a:ext cx="201168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25711" y="2194560"/>
            <a:ext cx="1920240" cy="356615"/>
          </a:xfrm>
          <a:prstGeom prst="rect">
            <a:avLst/>
          </a:prstGeom>
          <a:noFill/>
        </p:spPr>
        <p:txBody>
          <a:bodyPr wrap="square" lIns="0" tIns="0" rIns="0" bIns="0">
            <a:spAutoFit/>
          </a:bodyPr>
          <a:lstStyle/>
          <a:p>
            <a:pPr algn="l"/>
            <a:r>
              <a:rPr sz="1100" b="0" i="0">
                <a:solidFill>
                  <a:srgbClr val="1A1A2E"/>
                </a:solidFill>
                <a:latin typeface="Calibri"/>
              </a:rPr>
              <a:t>AMFI India</a:t>
            </a:r>
          </a:p>
        </p:txBody>
      </p:sp>
      <p:sp>
        <p:nvSpPr>
          <p:cNvPr id="34" name="Rectangle 33"/>
          <p:cNvSpPr/>
          <p:nvPr/>
        </p:nvSpPr>
        <p:spPr>
          <a:xfrm>
            <a:off x="3931920" y="2551176"/>
            <a:ext cx="182880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005072" y="2624328"/>
            <a:ext cx="1737360" cy="356615"/>
          </a:xfrm>
          <a:prstGeom prst="rect">
            <a:avLst/>
          </a:prstGeom>
          <a:noFill/>
        </p:spPr>
        <p:txBody>
          <a:bodyPr wrap="square" lIns="0" tIns="0" rIns="0" bIns="0">
            <a:spAutoFit/>
          </a:bodyPr>
          <a:lstStyle/>
          <a:p>
            <a:pPr algn="l"/>
            <a:r>
              <a:rPr sz="1100" b="0" i="0">
                <a:solidFill>
                  <a:srgbClr val="1A1A2E"/>
                </a:solidFill>
                <a:latin typeface="Calibri"/>
              </a:rPr>
              <a:t>nav / nav_date</a:t>
            </a:r>
          </a:p>
        </p:txBody>
      </p:sp>
      <p:sp>
        <p:nvSpPr>
          <p:cNvPr id="36" name="Rectangle 35"/>
          <p:cNvSpPr/>
          <p:nvPr/>
        </p:nvSpPr>
        <p:spPr>
          <a:xfrm>
            <a:off x="5760720" y="2551176"/>
            <a:ext cx="329184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33872" y="2624328"/>
            <a:ext cx="3200400" cy="356615"/>
          </a:xfrm>
          <a:prstGeom prst="rect">
            <a:avLst/>
          </a:prstGeom>
          <a:noFill/>
        </p:spPr>
        <p:txBody>
          <a:bodyPr wrap="square" lIns="0" tIns="0" rIns="0" bIns="0">
            <a:spAutoFit/>
          </a:bodyPr>
          <a:lstStyle/>
          <a:p>
            <a:pPr algn="l"/>
            <a:r>
              <a:rPr sz="1100" b="0" i="0">
                <a:solidFill>
                  <a:srgbClr val="1A1A2E"/>
                </a:solidFill>
                <a:latin typeface="Calibri"/>
              </a:rPr>
              <a:t>Daily net asset value &amp; date</a:t>
            </a:r>
          </a:p>
        </p:txBody>
      </p:sp>
      <p:sp>
        <p:nvSpPr>
          <p:cNvPr id="38" name="Rectangle 37"/>
          <p:cNvSpPr/>
          <p:nvPr/>
        </p:nvSpPr>
        <p:spPr>
          <a:xfrm>
            <a:off x="9052559" y="2551176"/>
            <a:ext cx="201168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25711" y="2624328"/>
            <a:ext cx="1920240" cy="356615"/>
          </a:xfrm>
          <a:prstGeom prst="rect">
            <a:avLst/>
          </a:prstGeom>
          <a:noFill/>
        </p:spPr>
        <p:txBody>
          <a:bodyPr wrap="square" lIns="0" tIns="0" rIns="0" bIns="0">
            <a:spAutoFit/>
          </a:bodyPr>
          <a:lstStyle/>
          <a:p>
            <a:pPr algn="l"/>
            <a:r>
              <a:rPr sz="1100" b="0" i="0">
                <a:solidFill>
                  <a:srgbClr val="1A1A2E"/>
                </a:solidFill>
                <a:latin typeface="Calibri"/>
              </a:rPr>
              <a:t>mfapi.in API</a:t>
            </a:r>
          </a:p>
        </p:txBody>
      </p:sp>
      <p:sp>
        <p:nvSpPr>
          <p:cNvPr id="40" name="Rectangle 39"/>
          <p:cNvSpPr/>
          <p:nvPr/>
        </p:nvSpPr>
        <p:spPr>
          <a:xfrm>
            <a:off x="3931920" y="2980944"/>
            <a:ext cx="182880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005072" y="3054096"/>
            <a:ext cx="1737360" cy="356615"/>
          </a:xfrm>
          <a:prstGeom prst="rect">
            <a:avLst/>
          </a:prstGeom>
          <a:noFill/>
        </p:spPr>
        <p:txBody>
          <a:bodyPr wrap="square" lIns="0" tIns="0" rIns="0" bIns="0">
            <a:spAutoFit/>
          </a:bodyPr>
          <a:lstStyle/>
          <a:p>
            <a:pPr algn="l"/>
            <a:r>
              <a:rPr sz="1100" b="0" i="0">
                <a:solidFill>
                  <a:srgbClr val="1A1A2E"/>
                </a:solidFill>
                <a:latin typeface="Calibri"/>
              </a:rPr>
              <a:t>daily_return_pct</a:t>
            </a:r>
          </a:p>
        </p:txBody>
      </p:sp>
      <p:sp>
        <p:nvSpPr>
          <p:cNvPr id="42" name="Rectangle 41"/>
          <p:cNvSpPr/>
          <p:nvPr/>
        </p:nvSpPr>
        <p:spPr>
          <a:xfrm>
            <a:off x="5760720" y="2980944"/>
            <a:ext cx="32918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833872" y="3054096"/>
            <a:ext cx="3200400" cy="356615"/>
          </a:xfrm>
          <a:prstGeom prst="rect">
            <a:avLst/>
          </a:prstGeom>
          <a:noFill/>
        </p:spPr>
        <p:txBody>
          <a:bodyPr wrap="square" lIns="0" tIns="0" rIns="0" bIns="0">
            <a:spAutoFit/>
          </a:bodyPr>
          <a:lstStyle/>
          <a:p>
            <a:pPr algn="l"/>
            <a:r>
              <a:rPr sz="1100" b="0" i="0">
                <a:solidFill>
                  <a:srgbClr val="1A1A2E"/>
                </a:solidFill>
                <a:latin typeface="Calibri"/>
              </a:rPr>
              <a:t>NAVt / NAVt-1 – 1 (daily returns)</a:t>
            </a:r>
          </a:p>
        </p:txBody>
      </p:sp>
      <p:sp>
        <p:nvSpPr>
          <p:cNvPr id="44" name="Rectangle 43"/>
          <p:cNvSpPr/>
          <p:nvPr/>
        </p:nvSpPr>
        <p:spPr>
          <a:xfrm>
            <a:off x="9052559" y="2980944"/>
            <a:ext cx="201168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25711" y="3054096"/>
            <a:ext cx="1920240" cy="356615"/>
          </a:xfrm>
          <a:prstGeom prst="rect">
            <a:avLst/>
          </a:prstGeom>
          <a:noFill/>
        </p:spPr>
        <p:txBody>
          <a:bodyPr wrap="square" lIns="0" tIns="0" rIns="0" bIns="0">
            <a:spAutoFit/>
          </a:bodyPr>
          <a:lstStyle/>
          <a:p>
            <a:pPr algn="l"/>
            <a:r>
              <a:rPr sz="1100" b="0" i="0">
                <a:solidFill>
                  <a:srgbClr val="1A1A2E"/>
                </a:solidFill>
                <a:latin typeface="Calibri"/>
              </a:rPr>
              <a:t>Computed</a:t>
            </a:r>
          </a:p>
        </p:txBody>
      </p:sp>
      <p:sp>
        <p:nvSpPr>
          <p:cNvPr id="46" name="Rectangle 45"/>
          <p:cNvSpPr/>
          <p:nvPr/>
        </p:nvSpPr>
        <p:spPr>
          <a:xfrm>
            <a:off x="3931920" y="3410712"/>
            <a:ext cx="182880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005072" y="3483864"/>
            <a:ext cx="1737360" cy="356615"/>
          </a:xfrm>
          <a:prstGeom prst="rect">
            <a:avLst/>
          </a:prstGeom>
          <a:noFill/>
        </p:spPr>
        <p:txBody>
          <a:bodyPr wrap="square" lIns="0" tIns="0" rIns="0" bIns="0">
            <a:spAutoFit/>
          </a:bodyPr>
          <a:lstStyle/>
          <a:p>
            <a:pPr algn="l"/>
            <a:r>
              <a:rPr sz="1100" b="0" i="0">
                <a:solidFill>
                  <a:srgbClr val="1A1A2E"/>
                </a:solidFill>
                <a:latin typeface="Calibri"/>
              </a:rPr>
              <a:t>sharpe_ratio</a:t>
            </a:r>
          </a:p>
        </p:txBody>
      </p:sp>
      <p:sp>
        <p:nvSpPr>
          <p:cNvPr id="48" name="Rectangle 47"/>
          <p:cNvSpPr/>
          <p:nvPr/>
        </p:nvSpPr>
        <p:spPr>
          <a:xfrm>
            <a:off x="5760720" y="3410712"/>
            <a:ext cx="329184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33872" y="3483864"/>
            <a:ext cx="3200400" cy="356615"/>
          </a:xfrm>
          <a:prstGeom prst="rect">
            <a:avLst/>
          </a:prstGeom>
          <a:noFill/>
        </p:spPr>
        <p:txBody>
          <a:bodyPr wrap="square" lIns="0" tIns="0" rIns="0" bIns="0">
            <a:spAutoFit/>
          </a:bodyPr>
          <a:lstStyle/>
          <a:p>
            <a:pPr algn="l"/>
            <a:r>
              <a:rPr sz="1100" b="0" i="0">
                <a:solidFill>
                  <a:srgbClr val="1A1A2E"/>
                </a:solidFill>
                <a:latin typeface="Calibri"/>
              </a:rPr>
              <a:t>Risk-adjusted return metric</a:t>
            </a:r>
          </a:p>
        </p:txBody>
      </p:sp>
      <p:sp>
        <p:nvSpPr>
          <p:cNvPr id="50" name="Rectangle 49"/>
          <p:cNvSpPr/>
          <p:nvPr/>
        </p:nvSpPr>
        <p:spPr>
          <a:xfrm>
            <a:off x="9052559" y="3410712"/>
            <a:ext cx="201168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125711" y="3483864"/>
            <a:ext cx="1920240" cy="356615"/>
          </a:xfrm>
          <a:prstGeom prst="rect">
            <a:avLst/>
          </a:prstGeom>
          <a:noFill/>
        </p:spPr>
        <p:txBody>
          <a:bodyPr wrap="square" lIns="0" tIns="0" rIns="0" bIns="0">
            <a:spAutoFit/>
          </a:bodyPr>
          <a:lstStyle/>
          <a:p>
            <a:pPr algn="l"/>
            <a:r>
              <a:rPr sz="1100" b="0" i="0">
                <a:solidFill>
                  <a:srgbClr val="1A1A2E"/>
                </a:solidFill>
                <a:latin typeface="Calibri"/>
              </a:rPr>
              <a:t>Computed</a:t>
            </a:r>
          </a:p>
        </p:txBody>
      </p:sp>
      <p:sp>
        <p:nvSpPr>
          <p:cNvPr id="52" name="Rectangle 51"/>
          <p:cNvSpPr/>
          <p:nvPr/>
        </p:nvSpPr>
        <p:spPr>
          <a:xfrm>
            <a:off x="3931920" y="3840479"/>
            <a:ext cx="182880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005072" y="3913631"/>
            <a:ext cx="1737360" cy="356615"/>
          </a:xfrm>
          <a:prstGeom prst="rect">
            <a:avLst/>
          </a:prstGeom>
          <a:noFill/>
        </p:spPr>
        <p:txBody>
          <a:bodyPr wrap="square" lIns="0" tIns="0" rIns="0" bIns="0">
            <a:spAutoFit/>
          </a:bodyPr>
          <a:lstStyle/>
          <a:p>
            <a:pPr algn="l"/>
            <a:r>
              <a:rPr sz="1100" b="0" i="0">
                <a:solidFill>
                  <a:srgbClr val="1A1A2E"/>
                </a:solidFill>
                <a:latin typeface="Calibri"/>
              </a:rPr>
              <a:t>alpha / beta</a:t>
            </a:r>
          </a:p>
        </p:txBody>
      </p:sp>
      <p:sp>
        <p:nvSpPr>
          <p:cNvPr id="54" name="Rectangle 53"/>
          <p:cNvSpPr/>
          <p:nvPr/>
        </p:nvSpPr>
        <p:spPr>
          <a:xfrm>
            <a:off x="5760720" y="3840479"/>
            <a:ext cx="32918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833872" y="3913631"/>
            <a:ext cx="3200400" cy="356615"/>
          </a:xfrm>
          <a:prstGeom prst="rect">
            <a:avLst/>
          </a:prstGeom>
          <a:noFill/>
        </p:spPr>
        <p:txBody>
          <a:bodyPr wrap="square" lIns="0" tIns="0" rIns="0" bIns="0">
            <a:spAutoFit/>
          </a:bodyPr>
          <a:lstStyle/>
          <a:p>
            <a:pPr algn="l"/>
            <a:r>
              <a:rPr sz="1100" b="0" i="0">
                <a:solidFill>
                  <a:srgbClr val="1A1A2E"/>
                </a:solidFill>
                <a:latin typeface="Calibri"/>
              </a:rPr>
              <a:t>Jensen's alpha &amp; market beta</a:t>
            </a:r>
          </a:p>
        </p:txBody>
      </p:sp>
      <p:sp>
        <p:nvSpPr>
          <p:cNvPr id="56" name="Rectangle 55"/>
          <p:cNvSpPr/>
          <p:nvPr/>
        </p:nvSpPr>
        <p:spPr>
          <a:xfrm>
            <a:off x="9052559" y="3840479"/>
            <a:ext cx="201168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125711" y="3913631"/>
            <a:ext cx="1920240" cy="356615"/>
          </a:xfrm>
          <a:prstGeom prst="rect">
            <a:avLst/>
          </a:prstGeom>
          <a:noFill/>
        </p:spPr>
        <p:txBody>
          <a:bodyPr wrap="square" lIns="0" tIns="0" rIns="0" bIns="0">
            <a:spAutoFit/>
          </a:bodyPr>
          <a:lstStyle/>
          <a:p>
            <a:pPr algn="l"/>
            <a:r>
              <a:rPr sz="1100" b="0" i="0">
                <a:solidFill>
                  <a:srgbClr val="1A1A2E"/>
                </a:solidFill>
                <a:latin typeface="Calibri"/>
              </a:rPr>
              <a:t>Computed vs Nifty 100</a:t>
            </a:r>
          </a:p>
        </p:txBody>
      </p:sp>
      <p:sp>
        <p:nvSpPr>
          <p:cNvPr id="58" name="Rectangle 57"/>
          <p:cNvSpPr/>
          <p:nvPr/>
        </p:nvSpPr>
        <p:spPr>
          <a:xfrm>
            <a:off x="3931920" y="4270248"/>
            <a:ext cx="182880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005072" y="4343400"/>
            <a:ext cx="1737360" cy="356615"/>
          </a:xfrm>
          <a:prstGeom prst="rect">
            <a:avLst/>
          </a:prstGeom>
          <a:noFill/>
        </p:spPr>
        <p:txBody>
          <a:bodyPr wrap="square" lIns="0" tIns="0" rIns="0" bIns="0">
            <a:spAutoFit/>
          </a:bodyPr>
          <a:lstStyle/>
          <a:p>
            <a:pPr algn="l"/>
            <a:r>
              <a:rPr sz="1100" b="0" i="0">
                <a:solidFill>
                  <a:srgbClr val="1A1A2E"/>
                </a:solidFill>
                <a:latin typeface="Calibri"/>
              </a:rPr>
              <a:t>max_drawdown_pct</a:t>
            </a:r>
          </a:p>
        </p:txBody>
      </p:sp>
      <p:sp>
        <p:nvSpPr>
          <p:cNvPr id="60" name="Rectangle 59"/>
          <p:cNvSpPr/>
          <p:nvPr/>
        </p:nvSpPr>
        <p:spPr>
          <a:xfrm>
            <a:off x="5760720" y="4270248"/>
            <a:ext cx="329184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833872" y="4343400"/>
            <a:ext cx="3200400" cy="356615"/>
          </a:xfrm>
          <a:prstGeom prst="rect">
            <a:avLst/>
          </a:prstGeom>
          <a:noFill/>
        </p:spPr>
        <p:txBody>
          <a:bodyPr wrap="square" lIns="0" tIns="0" rIns="0" bIns="0">
            <a:spAutoFit/>
          </a:bodyPr>
          <a:lstStyle/>
          <a:p>
            <a:pPr algn="l"/>
            <a:r>
              <a:rPr sz="1100" b="0" i="0">
                <a:solidFill>
                  <a:srgbClr val="1A1A2E"/>
                </a:solidFill>
                <a:latin typeface="Calibri"/>
              </a:rPr>
              <a:t>Peak-to-trough NAV decline</a:t>
            </a:r>
          </a:p>
        </p:txBody>
      </p:sp>
      <p:sp>
        <p:nvSpPr>
          <p:cNvPr id="62" name="Rectangle 61"/>
          <p:cNvSpPr/>
          <p:nvPr/>
        </p:nvSpPr>
        <p:spPr>
          <a:xfrm>
            <a:off x="9052559" y="4270248"/>
            <a:ext cx="201168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125711" y="4343400"/>
            <a:ext cx="1920240" cy="356615"/>
          </a:xfrm>
          <a:prstGeom prst="rect">
            <a:avLst/>
          </a:prstGeom>
          <a:noFill/>
        </p:spPr>
        <p:txBody>
          <a:bodyPr wrap="square" lIns="0" tIns="0" rIns="0" bIns="0">
            <a:spAutoFit/>
          </a:bodyPr>
          <a:lstStyle/>
          <a:p>
            <a:pPr algn="l"/>
            <a:r>
              <a:rPr sz="1100" b="0" i="0">
                <a:solidFill>
                  <a:srgbClr val="1A1A2E"/>
                </a:solidFill>
                <a:latin typeface="Calibri"/>
              </a:rPr>
              <a:t>Computed</a:t>
            </a:r>
          </a:p>
        </p:txBody>
      </p:sp>
      <p:sp>
        <p:nvSpPr>
          <p:cNvPr id="64" name="Rectangle 63"/>
          <p:cNvSpPr/>
          <p:nvPr/>
        </p:nvSpPr>
        <p:spPr>
          <a:xfrm>
            <a:off x="3931920" y="4700016"/>
            <a:ext cx="182880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005072" y="4773168"/>
            <a:ext cx="1737360" cy="356615"/>
          </a:xfrm>
          <a:prstGeom prst="rect">
            <a:avLst/>
          </a:prstGeom>
          <a:noFill/>
        </p:spPr>
        <p:txBody>
          <a:bodyPr wrap="square" lIns="0" tIns="0" rIns="0" bIns="0">
            <a:spAutoFit/>
          </a:bodyPr>
          <a:lstStyle/>
          <a:p>
            <a:pPr algn="l"/>
            <a:r>
              <a:rPr sz="1100" b="0" i="0">
                <a:solidFill>
                  <a:srgbClr val="1A1A2E"/>
                </a:solidFill>
                <a:latin typeface="Calibri"/>
              </a:rPr>
              <a:t>expense_ratio_pct</a:t>
            </a:r>
          </a:p>
        </p:txBody>
      </p:sp>
      <p:sp>
        <p:nvSpPr>
          <p:cNvPr id="66" name="Rectangle 65"/>
          <p:cNvSpPr/>
          <p:nvPr/>
        </p:nvSpPr>
        <p:spPr>
          <a:xfrm>
            <a:off x="5760720" y="4700016"/>
            <a:ext cx="329184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833872" y="4773168"/>
            <a:ext cx="3200400" cy="356615"/>
          </a:xfrm>
          <a:prstGeom prst="rect">
            <a:avLst/>
          </a:prstGeom>
          <a:noFill/>
        </p:spPr>
        <p:txBody>
          <a:bodyPr wrap="square" lIns="0" tIns="0" rIns="0" bIns="0">
            <a:spAutoFit/>
          </a:bodyPr>
          <a:lstStyle/>
          <a:p>
            <a:pPr algn="l"/>
            <a:r>
              <a:rPr sz="1100" b="0" i="0">
                <a:solidFill>
                  <a:srgbClr val="1A1A2E"/>
                </a:solidFill>
                <a:latin typeface="Calibri"/>
              </a:rPr>
              <a:t>Annual management cost</a:t>
            </a:r>
          </a:p>
        </p:txBody>
      </p:sp>
      <p:sp>
        <p:nvSpPr>
          <p:cNvPr id="68" name="Rectangle 67"/>
          <p:cNvSpPr/>
          <p:nvPr/>
        </p:nvSpPr>
        <p:spPr>
          <a:xfrm>
            <a:off x="9052559" y="4700016"/>
            <a:ext cx="201168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125711" y="4773168"/>
            <a:ext cx="1920240" cy="356615"/>
          </a:xfrm>
          <a:prstGeom prst="rect">
            <a:avLst/>
          </a:prstGeom>
          <a:noFill/>
        </p:spPr>
        <p:txBody>
          <a:bodyPr wrap="square" lIns="0" tIns="0" rIns="0" bIns="0">
            <a:spAutoFit/>
          </a:bodyPr>
          <a:lstStyle/>
          <a:p>
            <a:pPr algn="l"/>
            <a:r>
              <a:rPr sz="1100" b="0" i="0">
                <a:solidFill>
                  <a:srgbClr val="1A1A2E"/>
                </a:solidFill>
                <a:latin typeface="Calibri"/>
              </a:rPr>
              <a:t>AMFI</a:t>
            </a:r>
          </a:p>
        </p:txBody>
      </p:sp>
      <p:sp>
        <p:nvSpPr>
          <p:cNvPr id="70" name="Rectangle 69"/>
          <p:cNvSpPr/>
          <p:nvPr/>
        </p:nvSpPr>
        <p:spPr>
          <a:xfrm>
            <a:off x="3931920" y="5129783"/>
            <a:ext cx="182880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005072" y="5202936"/>
            <a:ext cx="1737360" cy="356615"/>
          </a:xfrm>
          <a:prstGeom prst="rect">
            <a:avLst/>
          </a:prstGeom>
          <a:noFill/>
        </p:spPr>
        <p:txBody>
          <a:bodyPr wrap="square" lIns="0" tIns="0" rIns="0" bIns="0">
            <a:spAutoFit/>
          </a:bodyPr>
          <a:lstStyle/>
          <a:p>
            <a:pPr algn="l"/>
            <a:r>
              <a:rPr sz="1100" b="0" i="0">
                <a:solidFill>
                  <a:srgbClr val="1A1A2E"/>
                </a:solidFill>
                <a:latin typeface="Calibri"/>
              </a:rPr>
              <a:t>transaction_type</a:t>
            </a:r>
          </a:p>
        </p:txBody>
      </p:sp>
      <p:sp>
        <p:nvSpPr>
          <p:cNvPr id="72" name="Rectangle 71"/>
          <p:cNvSpPr/>
          <p:nvPr/>
        </p:nvSpPr>
        <p:spPr>
          <a:xfrm>
            <a:off x="5760720" y="5129783"/>
            <a:ext cx="329184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833872" y="5202936"/>
            <a:ext cx="3200400" cy="356615"/>
          </a:xfrm>
          <a:prstGeom prst="rect">
            <a:avLst/>
          </a:prstGeom>
          <a:noFill/>
        </p:spPr>
        <p:txBody>
          <a:bodyPr wrap="square" lIns="0" tIns="0" rIns="0" bIns="0">
            <a:spAutoFit/>
          </a:bodyPr>
          <a:lstStyle/>
          <a:p>
            <a:pPr algn="l"/>
            <a:r>
              <a:rPr sz="1100" b="0" i="0">
                <a:solidFill>
                  <a:srgbClr val="1A1A2E"/>
                </a:solidFill>
                <a:latin typeface="Calibri"/>
              </a:rPr>
              <a:t>SIP / Lumpsum / Redemption</a:t>
            </a:r>
          </a:p>
        </p:txBody>
      </p:sp>
      <p:sp>
        <p:nvSpPr>
          <p:cNvPr id="74" name="Rectangle 73"/>
          <p:cNvSpPr/>
          <p:nvPr/>
        </p:nvSpPr>
        <p:spPr>
          <a:xfrm>
            <a:off x="9052559" y="5129783"/>
            <a:ext cx="2011680" cy="429768"/>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125711" y="5202936"/>
            <a:ext cx="1920240" cy="356615"/>
          </a:xfrm>
          <a:prstGeom prst="rect">
            <a:avLst/>
          </a:prstGeom>
          <a:noFill/>
        </p:spPr>
        <p:txBody>
          <a:bodyPr wrap="square" lIns="0" tIns="0" rIns="0" bIns="0">
            <a:spAutoFit/>
          </a:bodyPr>
          <a:lstStyle/>
          <a:p>
            <a:pPr algn="l"/>
            <a:r>
              <a:rPr sz="1100" b="0" i="0">
                <a:solidFill>
                  <a:srgbClr val="1A1A2E"/>
                </a:solidFill>
                <a:latin typeface="Calibri"/>
              </a:rPr>
              <a:t>Synthetic (realistic)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Technology Stack</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Modern Open-Source Analytics Toolkit</a:t>
            </a:r>
          </a:p>
        </p:txBody>
      </p:sp>
      <p:sp>
        <p:nvSpPr>
          <p:cNvPr id="6" name="Rounded Rectangle 5"/>
          <p:cNvSpPr/>
          <p:nvPr/>
        </p:nvSpPr>
        <p:spPr>
          <a:xfrm>
            <a:off x="320040" y="123444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34440"/>
            <a:ext cx="2788920" cy="347472"/>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3192" y="1280160"/>
            <a:ext cx="640080" cy="274320"/>
          </a:xfrm>
          <a:prstGeom prst="rect">
            <a:avLst/>
          </a:prstGeom>
          <a:noFill/>
        </p:spPr>
        <p:txBody>
          <a:bodyPr wrap="square" lIns="0" tIns="0" rIns="0" bIns="0">
            <a:spAutoFit/>
          </a:bodyPr>
          <a:lstStyle/>
          <a:p>
            <a:pPr algn="l"/>
            <a:r>
              <a:rPr sz="900" b="1" i="0">
                <a:solidFill>
                  <a:srgbClr val="FFFFFF"/>
                </a:solidFill>
                <a:latin typeface="Calibri"/>
              </a:rPr>
              <a:t>LANG</a:t>
            </a:r>
          </a:p>
        </p:txBody>
      </p:sp>
      <p:sp>
        <p:nvSpPr>
          <p:cNvPr id="9" name="TextBox 8"/>
          <p:cNvSpPr txBox="1"/>
          <p:nvPr/>
        </p:nvSpPr>
        <p:spPr>
          <a:xfrm>
            <a:off x="429768" y="1691640"/>
            <a:ext cx="2578608" cy="411480"/>
          </a:xfrm>
          <a:prstGeom prst="rect">
            <a:avLst/>
          </a:prstGeom>
          <a:noFill/>
        </p:spPr>
        <p:txBody>
          <a:bodyPr wrap="square" lIns="0" tIns="0" rIns="0" bIns="0">
            <a:spAutoFit/>
          </a:bodyPr>
          <a:lstStyle/>
          <a:p>
            <a:pPr algn="l"/>
            <a:r>
              <a:rPr sz="1400" b="1" i="0">
                <a:solidFill>
                  <a:srgbClr val="1A1A2E"/>
                </a:solidFill>
                <a:latin typeface="Calibri"/>
              </a:rPr>
              <a:t>Python 3.12</a:t>
            </a:r>
          </a:p>
        </p:txBody>
      </p:sp>
      <p:sp>
        <p:nvSpPr>
          <p:cNvPr id="10" name="TextBox 9"/>
          <p:cNvSpPr txBox="1"/>
          <p:nvPr/>
        </p:nvSpPr>
        <p:spPr>
          <a:xfrm>
            <a:off x="429768" y="2130552"/>
            <a:ext cx="2578608" cy="1115568"/>
          </a:xfrm>
          <a:prstGeom prst="rect">
            <a:avLst/>
          </a:prstGeom>
          <a:noFill/>
        </p:spPr>
        <p:txBody>
          <a:bodyPr wrap="square" lIns="0" tIns="0" rIns="0" bIns="0">
            <a:spAutoFit/>
          </a:bodyPr>
          <a:lstStyle/>
          <a:p>
            <a:pPr algn="l"/>
            <a:r>
              <a:rPr sz="1100" b="0" i="0">
                <a:solidFill>
                  <a:srgbClr val="445B7C"/>
                </a:solidFill>
                <a:latin typeface="Calibri"/>
              </a:rPr>
              <a:t>Core language for ETL, metrics computation, and scripting</a:t>
            </a:r>
          </a:p>
        </p:txBody>
      </p:sp>
      <p:sp>
        <p:nvSpPr>
          <p:cNvPr id="11" name="Rounded Rectangle 10"/>
          <p:cNvSpPr/>
          <p:nvPr/>
        </p:nvSpPr>
        <p:spPr>
          <a:xfrm>
            <a:off x="3246120" y="123444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46120" y="1234440"/>
            <a:ext cx="2788920" cy="347472"/>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19272" y="1280160"/>
            <a:ext cx="640080" cy="274320"/>
          </a:xfrm>
          <a:prstGeom prst="rect">
            <a:avLst/>
          </a:prstGeom>
          <a:noFill/>
        </p:spPr>
        <p:txBody>
          <a:bodyPr wrap="square" lIns="0" tIns="0" rIns="0" bIns="0">
            <a:spAutoFit/>
          </a:bodyPr>
          <a:lstStyle/>
          <a:p>
            <a:pPr algn="l"/>
            <a:r>
              <a:rPr sz="900" b="1" i="0">
                <a:solidFill>
                  <a:srgbClr val="FFFFFF"/>
                </a:solidFill>
                <a:latin typeface="Calibri"/>
              </a:rPr>
              <a:t>DATA</a:t>
            </a:r>
          </a:p>
        </p:txBody>
      </p:sp>
      <p:sp>
        <p:nvSpPr>
          <p:cNvPr id="14" name="TextBox 13"/>
          <p:cNvSpPr txBox="1"/>
          <p:nvPr/>
        </p:nvSpPr>
        <p:spPr>
          <a:xfrm>
            <a:off x="3355848" y="1691640"/>
            <a:ext cx="2578608" cy="411480"/>
          </a:xfrm>
          <a:prstGeom prst="rect">
            <a:avLst/>
          </a:prstGeom>
          <a:noFill/>
        </p:spPr>
        <p:txBody>
          <a:bodyPr wrap="square" lIns="0" tIns="0" rIns="0" bIns="0">
            <a:spAutoFit/>
          </a:bodyPr>
          <a:lstStyle/>
          <a:p>
            <a:pPr algn="l"/>
            <a:r>
              <a:rPr sz="1400" b="1" i="0">
                <a:solidFill>
                  <a:srgbClr val="1A1A2E"/>
                </a:solidFill>
                <a:latin typeface="Calibri"/>
              </a:rPr>
              <a:t>Pandas &amp; NumPy</a:t>
            </a:r>
          </a:p>
        </p:txBody>
      </p:sp>
      <p:sp>
        <p:nvSpPr>
          <p:cNvPr id="15" name="TextBox 14"/>
          <p:cNvSpPr txBox="1"/>
          <p:nvPr/>
        </p:nvSpPr>
        <p:spPr>
          <a:xfrm>
            <a:off x="3355848" y="2130552"/>
            <a:ext cx="2578608" cy="1115568"/>
          </a:xfrm>
          <a:prstGeom prst="rect">
            <a:avLst/>
          </a:prstGeom>
          <a:noFill/>
        </p:spPr>
        <p:txBody>
          <a:bodyPr wrap="square" lIns="0" tIns="0" rIns="0" bIns="0">
            <a:spAutoFit/>
          </a:bodyPr>
          <a:lstStyle/>
          <a:p>
            <a:pPr algn="l"/>
            <a:r>
              <a:rPr sz="1100" b="0" i="0">
                <a:solidFill>
                  <a:srgbClr val="445B7C"/>
                </a:solidFill>
                <a:latin typeface="Calibri"/>
              </a:rPr>
              <a:t>Data manipulation, vectorized computation of returns and statistics</a:t>
            </a:r>
          </a:p>
        </p:txBody>
      </p:sp>
      <p:sp>
        <p:nvSpPr>
          <p:cNvPr id="16" name="Rounded Rectangle 15"/>
          <p:cNvSpPr/>
          <p:nvPr/>
        </p:nvSpPr>
        <p:spPr>
          <a:xfrm>
            <a:off x="6172200" y="123444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1234440"/>
            <a:ext cx="2788920" cy="347472"/>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45352" y="1280160"/>
            <a:ext cx="640080" cy="274320"/>
          </a:xfrm>
          <a:prstGeom prst="rect">
            <a:avLst/>
          </a:prstGeom>
          <a:noFill/>
        </p:spPr>
        <p:txBody>
          <a:bodyPr wrap="square" lIns="0" tIns="0" rIns="0" bIns="0">
            <a:spAutoFit/>
          </a:bodyPr>
          <a:lstStyle/>
          <a:p>
            <a:pPr algn="l"/>
            <a:r>
              <a:rPr sz="900" b="1" i="0">
                <a:solidFill>
                  <a:srgbClr val="FFFFFF"/>
                </a:solidFill>
                <a:latin typeface="Calibri"/>
              </a:rPr>
              <a:t>DB</a:t>
            </a:r>
          </a:p>
        </p:txBody>
      </p:sp>
      <p:sp>
        <p:nvSpPr>
          <p:cNvPr id="19" name="TextBox 18"/>
          <p:cNvSpPr txBox="1"/>
          <p:nvPr/>
        </p:nvSpPr>
        <p:spPr>
          <a:xfrm>
            <a:off x="6281928" y="1691640"/>
            <a:ext cx="2578608" cy="411480"/>
          </a:xfrm>
          <a:prstGeom prst="rect">
            <a:avLst/>
          </a:prstGeom>
          <a:noFill/>
        </p:spPr>
        <p:txBody>
          <a:bodyPr wrap="square" lIns="0" tIns="0" rIns="0" bIns="0">
            <a:spAutoFit/>
          </a:bodyPr>
          <a:lstStyle/>
          <a:p>
            <a:pPr algn="l"/>
            <a:r>
              <a:rPr sz="1400" b="1" i="0">
                <a:solidFill>
                  <a:srgbClr val="1A1A2E"/>
                </a:solidFill>
                <a:latin typeface="Calibri"/>
              </a:rPr>
              <a:t>SQLite + SQLAlchemy</a:t>
            </a:r>
          </a:p>
        </p:txBody>
      </p:sp>
      <p:sp>
        <p:nvSpPr>
          <p:cNvPr id="20" name="TextBox 19"/>
          <p:cNvSpPr txBox="1"/>
          <p:nvPr/>
        </p:nvSpPr>
        <p:spPr>
          <a:xfrm>
            <a:off x="6281928" y="2130552"/>
            <a:ext cx="2578608" cy="1115568"/>
          </a:xfrm>
          <a:prstGeom prst="rect">
            <a:avLst/>
          </a:prstGeom>
          <a:noFill/>
        </p:spPr>
        <p:txBody>
          <a:bodyPr wrap="square" lIns="0" tIns="0" rIns="0" bIns="0">
            <a:spAutoFit/>
          </a:bodyPr>
          <a:lstStyle/>
          <a:p>
            <a:pPr algn="l"/>
            <a:r>
              <a:rPr sz="1100" b="0" i="0">
                <a:solidFill>
                  <a:srgbClr val="445B7C"/>
                </a:solidFill>
                <a:latin typeface="Calibri"/>
              </a:rPr>
              <a:t>Lightweight star-schema database with 8 tables and 10 analytical queries</a:t>
            </a:r>
          </a:p>
        </p:txBody>
      </p:sp>
      <p:sp>
        <p:nvSpPr>
          <p:cNvPr id="21" name="Rounded Rectangle 20"/>
          <p:cNvSpPr/>
          <p:nvPr/>
        </p:nvSpPr>
        <p:spPr>
          <a:xfrm>
            <a:off x="9098280" y="123444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98280" y="1234440"/>
            <a:ext cx="2788920" cy="34747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71432" y="1280160"/>
            <a:ext cx="640080" cy="274320"/>
          </a:xfrm>
          <a:prstGeom prst="rect">
            <a:avLst/>
          </a:prstGeom>
          <a:noFill/>
        </p:spPr>
        <p:txBody>
          <a:bodyPr wrap="square" lIns="0" tIns="0" rIns="0" bIns="0">
            <a:spAutoFit/>
          </a:bodyPr>
          <a:lstStyle/>
          <a:p>
            <a:pPr algn="l"/>
            <a:r>
              <a:rPr sz="900" b="1" i="0">
                <a:solidFill>
                  <a:srgbClr val="FFFFFF"/>
                </a:solidFill>
                <a:latin typeface="Calibri"/>
              </a:rPr>
              <a:t>VIZ</a:t>
            </a:r>
          </a:p>
        </p:txBody>
      </p:sp>
      <p:sp>
        <p:nvSpPr>
          <p:cNvPr id="24" name="TextBox 23"/>
          <p:cNvSpPr txBox="1"/>
          <p:nvPr/>
        </p:nvSpPr>
        <p:spPr>
          <a:xfrm>
            <a:off x="9208008" y="1691640"/>
            <a:ext cx="2578608" cy="411480"/>
          </a:xfrm>
          <a:prstGeom prst="rect">
            <a:avLst/>
          </a:prstGeom>
          <a:noFill/>
        </p:spPr>
        <p:txBody>
          <a:bodyPr wrap="square" lIns="0" tIns="0" rIns="0" bIns="0">
            <a:spAutoFit/>
          </a:bodyPr>
          <a:lstStyle/>
          <a:p>
            <a:pPr algn="l"/>
            <a:r>
              <a:rPr sz="1400" b="1" i="0">
                <a:solidFill>
                  <a:srgbClr val="1A1A2E"/>
                </a:solidFill>
                <a:latin typeface="Calibri"/>
              </a:rPr>
              <a:t>Power BI Desktop</a:t>
            </a:r>
          </a:p>
        </p:txBody>
      </p:sp>
      <p:sp>
        <p:nvSpPr>
          <p:cNvPr id="25" name="TextBox 24"/>
          <p:cNvSpPr txBox="1"/>
          <p:nvPr/>
        </p:nvSpPr>
        <p:spPr>
          <a:xfrm>
            <a:off x="9208008" y="2130552"/>
            <a:ext cx="2578608" cy="1115568"/>
          </a:xfrm>
          <a:prstGeom prst="rect">
            <a:avLst/>
          </a:prstGeom>
          <a:noFill/>
        </p:spPr>
        <p:txBody>
          <a:bodyPr wrap="square" lIns="0" tIns="0" rIns="0" bIns="0">
            <a:spAutoFit/>
          </a:bodyPr>
          <a:lstStyle/>
          <a:p>
            <a:pPr algn="l"/>
            <a:r>
              <a:rPr sz="1100" b="0" i="0">
                <a:solidFill>
                  <a:srgbClr val="445B7C"/>
                </a:solidFill>
                <a:latin typeface="Calibri"/>
              </a:rPr>
              <a:t>Interactive 4-page dashboard with KPIs, slicers, and drill-through</a:t>
            </a:r>
          </a:p>
        </p:txBody>
      </p:sp>
      <p:sp>
        <p:nvSpPr>
          <p:cNvPr id="26" name="Rounded Rectangle 25"/>
          <p:cNvSpPr/>
          <p:nvPr/>
        </p:nvSpPr>
        <p:spPr>
          <a:xfrm>
            <a:off x="320040" y="361188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3611880"/>
            <a:ext cx="2788920" cy="347472"/>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3192" y="3657600"/>
            <a:ext cx="640080" cy="274320"/>
          </a:xfrm>
          <a:prstGeom prst="rect">
            <a:avLst/>
          </a:prstGeom>
          <a:noFill/>
        </p:spPr>
        <p:txBody>
          <a:bodyPr wrap="square" lIns="0" tIns="0" rIns="0" bIns="0">
            <a:spAutoFit/>
          </a:bodyPr>
          <a:lstStyle/>
          <a:p>
            <a:pPr algn="l"/>
            <a:r>
              <a:rPr sz="900" b="1" i="0">
                <a:solidFill>
                  <a:srgbClr val="FFFFFF"/>
                </a:solidFill>
                <a:latin typeface="Calibri"/>
              </a:rPr>
              <a:t>API</a:t>
            </a:r>
          </a:p>
        </p:txBody>
      </p:sp>
      <p:sp>
        <p:nvSpPr>
          <p:cNvPr id="29" name="TextBox 28"/>
          <p:cNvSpPr txBox="1"/>
          <p:nvPr/>
        </p:nvSpPr>
        <p:spPr>
          <a:xfrm>
            <a:off x="429768" y="4069080"/>
            <a:ext cx="2578608" cy="411480"/>
          </a:xfrm>
          <a:prstGeom prst="rect">
            <a:avLst/>
          </a:prstGeom>
          <a:noFill/>
        </p:spPr>
        <p:txBody>
          <a:bodyPr wrap="square" lIns="0" tIns="0" rIns="0" bIns="0">
            <a:spAutoFit/>
          </a:bodyPr>
          <a:lstStyle/>
          <a:p>
            <a:pPr algn="l"/>
            <a:r>
              <a:rPr sz="1400" b="1" i="0">
                <a:solidFill>
                  <a:srgbClr val="1A1A2E"/>
                </a:solidFill>
                <a:latin typeface="Calibri"/>
              </a:rPr>
              <a:t>mfapi.in / AMFI</a:t>
            </a:r>
          </a:p>
        </p:txBody>
      </p:sp>
      <p:sp>
        <p:nvSpPr>
          <p:cNvPr id="30" name="TextBox 29"/>
          <p:cNvSpPr txBox="1"/>
          <p:nvPr/>
        </p:nvSpPr>
        <p:spPr>
          <a:xfrm>
            <a:off x="429768" y="4507992"/>
            <a:ext cx="2578608" cy="1115568"/>
          </a:xfrm>
          <a:prstGeom prst="rect">
            <a:avLst/>
          </a:prstGeom>
          <a:noFill/>
        </p:spPr>
        <p:txBody>
          <a:bodyPr wrap="square" lIns="0" tIns="0" rIns="0" bIns="0">
            <a:spAutoFit/>
          </a:bodyPr>
          <a:lstStyle/>
          <a:p>
            <a:pPr algn="l"/>
            <a:r>
              <a:rPr sz="1100" b="0" i="0">
                <a:solidFill>
                  <a:srgbClr val="445B7C"/>
                </a:solidFill>
                <a:latin typeface="Calibri"/>
              </a:rPr>
              <a:t>Live and historical NAV data — no API key required, free access</a:t>
            </a:r>
          </a:p>
        </p:txBody>
      </p:sp>
      <p:sp>
        <p:nvSpPr>
          <p:cNvPr id="31" name="Rounded Rectangle 30"/>
          <p:cNvSpPr/>
          <p:nvPr/>
        </p:nvSpPr>
        <p:spPr>
          <a:xfrm>
            <a:off x="3246120" y="361188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246120" y="3611880"/>
            <a:ext cx="2788920" cy="347472"/>
          </a:xfrm>
          <a:prstGeom prst="rect">
            <a:avLst/>
          </a:prstGeom>
          <a:solidFill>
            <a:srgbClr val="8B2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19272" y="3657600"/>
            <a:ext cx="640080" cy="274320"/>
          </a:xfrm>
          <a:prstGeom prst="rect">
            <a:avLst/>
          </a:prstGeom>
          <a:noFill/>
        </p:spPr>
        <p:txBody>
          <a:bodyPr wrap="square" lIns="0" tIns="0" rIns="0" bIns="0">
            <a:spAutoFit/>
          </a:bodyPr>
          <a:lstStyle/>
          <a:p>
            <a:pPr algn="l"/>
            <a:r>
              <a:rPr sz="900" b="1" i="0">
                <a:solidFill>
                  <a:srgbClr val="FFFFFF"/>
                </a:solidFill>
                <a:latin typeface="Calibri"/>
              </a:rPr>
              <a:t>PLOT</a:t>
            </a:r>
          </a:p>
        </p:txBody>
      </p:sp>
      <p:sp>
        <p:nvSpPr>
          <p:cNvPr id="34" name="TextBox 33"/>
          <p:cNvSpPr txBox="1"/>
          <p:nvPr/>
        </p:nvSpPr>
        <p:spPr>
          <a:xfrm>
            <a:off x="3355848" y="4069080"/>
            <a:ext cx="2578608" cy="411480"/>
          </a:xfrm>
          <a:prstGeom prst="rect">
            <a:avLst/>
          </a:prstGeom>
          <a:noFill/>
        </p:spPr>
        <p:txBody>
          <a:bodyPr wrap="square" lIns="0" tIns="0" rIns="0" bIns="0">
            <a:spAutoFit/>
          </a:bodyPr>
          <a:lstStyle/>
          <a:p>
            <a:pPr algn="l"/>
            <a:r>
              <a:rPr sz="1400" b="1" i="0">
                <a:solidFill>
                  <a:srgbClr val="1A1A2E"/>
                </a:solidFill>
                <a:latin typeface="Calibri"/>
              </a:rPr>
              <a:t>Plotly / Matplotlib</a:t>
            </a:r>
          </a:p>
        </p:txBody>
      </p:sp>
      <p:sp>
        <p:nvSpPr>
          <p:cNvPr id="35" name="TextBox 34"/>
          <p:cNvSpPr txBox="1"/>
          <p:nvPr/>
        </p:nvSpPr>
        <p:spPr>
          <a:xfrm>
            <a:off x="3355848" y="4507992"/>
            <a:ext cx="2578608" cy="1115568"/>
          </a:xfrm>
          <a:prstGeom prst="rect">
            <a:avLst/>
          </a:prstGeom>
          <a:noFill/>
        </p:spPr>
        <p:txBody>
          <a:bodyPr wrap="square" lIns="0" tIns="0" rIns="0" bIns="0">
            <a:spAutoFit/>
          </a:bodyPr>
          <a:lstStyle/>
          <a:p>
            <a:pPr algn="l"/>
            <a:r>
              <a:rPr sz="1100" b="0" i="0">
                <a:solidFill>
                  <a:srgbClr val="445B7C"/>
                </a:solidFill>
                <a:latin typeface="Calibri"/>
              </a:rPr>
              <a:t>Exploratory charts in Jupyter notebooks: scatter, line, heatmap, bar</a:t>
            </a:r>
          </a:p>
        </p:txBody>
      </p:sp>
      <p:sp>
        <p:nvSpPr>
          <p:cNvPr id="36" name="Rounded Rectangle 35"/>
          <p:cNvSpPr/>
          <p:nvPr/>
        </p:nvSpPr>
        <p:spPr>
          <a:xfrm>
            <a:off x="6172200" y="361188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2200" y="3611880"/>
            <a:ext cx="278892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45352" y="3657600"/>
            <a:ext cx="640080" cy="274320"/>
          </a:xfrm>
          <a:prstGeom prst="rect">
            <a:avLst/>
          </a:prstGeom>
          <a:noFill/>
        </p:spPr>
        <p:txBody>
          <a:bodyPr wrap="square" lIns="0" tIns="0" rIns="0" bIns="0">
            <a:spAutoFit/>
          </a:bodyPr>
          <a:lstStyle/>
          <a:p>
            <a:pPr algn="l"/>
            <a:r>
              <a:rPr sz="900" b="1" i="0">
                <a:solidFill>
                  <a:srgbClr val="FFFFFF"/>
                </a:solidFill>
                <a:latin typeface="Calibri"/>
              </a:rPr>
              <a:t>STAT</a:t>
            </a:r>
          </a:p>
        </p:txBody>
      </p:sp>
      <p:sp>
        <p:nvSpPr>
          <p:cNvPr id="39" name="TextBox 38"/>
          <p:cNvSpPr txBox="1"/>
          <p:nvPr/>
        </p:nvSpPr>
        <p:spPr>
          <a:xfrm>
            <a:off x="6281928" y="4069080"/>
            <a:ext cx="2578608" cy="411480"/>
          </a:xfrm>
          <a:prstGeom prst="rect">
            <a:avLst/>
          </a:prstGeom>
          <a:noFill/>
        </p:spPr>
        <p:txBody>
          <a:bodyPr wrap="square" lIns="0" tIns="0" rIns="0" bIns="0">
            <a:spAutoFit/>
          </a:bodyPr>
          <a:lstStyle/>
          <a:p>
            <a:pPr algn="l"/>
            <a:r>
              <a:rPr sz="1400" b="1" i="0">
                <a:solidFill>
                  <a:srgbClr val="1A1A2E"/>
                </a:solidFill>
                <a:latin typeface="Calibri"/>
              </a:rPr>
              <a:t>SciPy</a:t>
            </a:r>
          </a:p>
        </p:txBody>
      </p:sp>
      <p:sp>
        <p:nvSpPr>
          <p:cNvPr id="40" name="TextBox 39"/>
          <p:cNvSpPr txBox="1"/>
          <p:nvPr/>
        </p:nvSpPr>
        <p:spPr>
          <a:xfrm>
            <a:off x="6281928" y="4507992"/>
            <a:ext cx="2578608" cy="1115568"/>
          </a:xfrm>
          <a:prstGeom prst="rect">
            <a:avLst/>
          </a:prstGeom>
          <a:noFill/>
        </p:spPr>
        <p:txBody>
          <a:bodyPr wrap="square" lIns="0" tIns="0" rIns="0" bIns="0">
            <a:spAutoFit/>
          </a:bodyPr>
          <a:lstStyle/>
          <a:p>
            <a:pPr algn="l"/>
            <a:r>
              <a:rPr sz="1100" b="0" i="0">
                <a:solidFill>
                  <a:srgbClr val="445B7C"/>
                </a:solidFill>
                <a:latin typeface="Calibri"/>
              </a:rPr>
              <a:t>OLS regression for Alpha/Beta computation against Nifty 100 benchmark</a:t>
            </a:r>
          </a:p>
        </p:txBody>
      </p:sp>
      <p:sp>
        <p:nvSpPr>
          <p:cNvPr id="41" name="Rounded Rectangle 40"/>
          <p:cNvSpPr/>
          <p:nvPr/>
        </p:nvSpPr>
        <p:spPr>
          <a:xfrm>
            <a:off x="9098280" y="3611880"/>
            <a:ext cx="278892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98280" y="3611880"/>
            <a:ext cx="2788920" cy="3474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71432" y="3657600"/>
            <a:ext cx="640080" cy="274320"/>
          </a:xfrm>
          <a:prstGeom prst="rect">
            <a:avLst/>
          </a:prstGeom>
          <a:noFill/>
        </p:spPr>
        <p:txBody>
          <a:bodyPr wrap="square" lIns="0" tIns="0" rIns="0" bIns="0">
            <a:spAutoFit/>
          </a:bodyPr>
          <a:lstStyle/>
          <a:p>
            <a:pPr algn="l"/>
            <a:r>
              <a:rPr sz="900" b="1" i="0">
                <a:solidFill>
                  <a:srgbClr val="FFFFFF"/>
                </a:solidFill>
                <a:latin typeface="Calibri"/>
              </a:rPr>
              <a:t>GIT</a:t>
            </a:r>
          </a:p>
        </p:txBody>
      </p:sp>
      <p:sp>
        <p:nvSpPr>
          <p:cNvPr id="44" name="TextBox 43"/>
          <p:cNvSpPr txBox="1"/>
          <p:nvPr/>
        </p:nvSpPr>
        <p:spPr>
          <a:xfrm>
            <a:off x="9208008" y="4069080"/>
            <a:ext cx="2578608" cy="411480"/>
          </a:xfrm>
          <a:prstGeom prst="rect">
            <a:avLst/>
          </a:prstGeom>
          <a:noFill/>
        </p:spPr>
        <p:txBody>
          <a:bodyPr wrap="square" lIns="0" tIns="0" rIns="0" bIns="0">
            <a:spAutoFit/>
          </a:bodyPr>
          <a:lstStyle/>
          <a:p>
            <a:pPr algn="l"/>
            <a:r>
              <a:rPr sz="1400" b="1" i="0">
                <a:solidFill>
                  <a:srgbClr val="1A1A2E"/>
                </a:solidFill>
                <a:latin typeface="Calibri"/>
              </a:rPr>
              <a:t>GitHub</a:t>
            </a:r>
          </a:p>
        </p:txBody>
      </p:sp>
      <p:sp>
        <p:nvSpPr>
          <p:cNvPr id="45" name="TextBox 44"/>
          <p:cNvSpPr txBox="1"/>
          <p:nvPr/>
        </p:nvSpPr>
        <p:spPr>
          <a:xfrm>
            <a:off x="9208008" y="4507992"/>
            <a:ext cx="2578608" cy="1115568"/>
          </a:xfrm>
          <a:prstGeom prst="rect">
            <a:avLst/>
          </a:prstGeom>
          <a:noFill/>
        </p:spPr>
        <p:txBody>
          <a:bodyPr wrap="square" lIns="0" tIns="0" rIns="0" bIns="0">
            <a:spAutoFit/>
          </a:bodyPr>
          <a:lstStyle/>
          <a:p>
            <a:pPr algn="l"/>
            <a:r>
              <a:rPr sz="1100" b="0" i="0">
                <a:solidFill>
                  <a:srgbClr val="445B7C"/>
                </a:solidFill>
                <a:latin typeface="Calibri"/>
              </a:rPr>
              <a:t>Version control, 6 commits, structured repo with notebooks/scripts/sql/dashboard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Project Architecture</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End-to-End Data Pipeline · ETL → Analytics → Dashboard</a:t>
            </a:r>
          </a:p>
        </p:txBody>
      </p:sp>
      <p:sp>
        <p:nvSpPr>
          <p:cNvPr id="6" name="Rounded Rectangle 5"/>
          <p:cNvSpPr/>
          <p:nvPr/>
        </p:nvSpPr>
        <p:spPr>
          <a:xfrm>
            <a:off x="274320" y="1828800"/>
            <a:ext cx="1389888" cy="1234440"/>
          </a:xfrm>
          <a:prstGeom prst="round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1938528"/>
            <a:ext cx="1280160" cy="502920"/>
          </a:xfrm>
          <a:prstGeom prst="rect">
            <a:avLst/>
          </a:prstGeom>
          <a:noFill/>
        </p:spPr>
        <p:txBody>
          <a:bodyPr wrap="square" lIns="0" tIns="0" rIns="0" bIns="0">
            <a:spAutoFit/>
          </a:bodyPr>
          <a:lstStyle/>
          <a:p>
            <a:pPr algn="ctr"/>
            <a:r>
              <a:rPr sz="1200" b="1" i="0">
                <a:solidFill>
                  <a:srgbClr val="FFFFFF"/>
                </a:solidFill>
                <a:latin typeface="Calibri"/>
              </a:rPr>
              <a:t>Raw NAV Data</a:t>
            </a:r>
          </a:p>
        </p:txBody>
      </p:sp>
      <p:sp>
        <p:nvSpPr>
          <p:cNvPr id="8" name="TextBox 7"/>
          <p:cNvSpPr txBox="1"/>
          <p:nvPr/>
        </p:nvSpPr>
        <p:spPr>
          <a:xfrm>
            <a:off x="347472" y="2468880"/>
            <a:ext cx="1280160" cy="548640"/>
          </a:xfrm>
          <a:prstGeom prst="rect">
            <a:avLst/>
          </a:prstGeom>
          <a:noFill/>
        </p:spPr>
        <p:txBody>
          <a:bodyPr wrap="square" lIns="0" tIns="0" rIns="0" bIns="0">
            <a:spAutoFit/>
          </a:bodyPr>
          <a:lstStyle/>
          <a:p>
            <a:pPr algn="ctr"/>
            <a:r>
              <a:rPr sz="900" b="0" i="0">
                <a:solidFill>
                  <a:srgbClr val="CCDDFF"/>
                </a:solidFill>
                <a:latin typeface="Calibri"/>
              </a:rPr>
              <a:t>AMFI / mfapi.in
15 CSV files + Live API</a:t>
            </a:r>
          </a:p>
        </p:txBody>
      </p:sp>
      <p:sp>
        <p:nvSpPr>
          <p:cNvPr id="9" name="Rectangle 8"/>
          <p:cNvSpPr/>
          <p:nvPr/>
        </p:nvSpPr>
        <p:spPr>
          <a:xfrm>
            <a:off x="1719072" y="2377440"/>
            <a:ext cx="164592" cy="128016"/>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874520" y="2304288"/>
            <a:ext cx="73152"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938528" y="1828800"/>
            <a:ext cx="1389888" cy="1234440"/>
          </a:xfrm>
          <a:prstGeom prst="round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80" y="1938528"/>
            <a:ext cx="1280160" cy="502920"/>
          </a:xfrm>
          <a:prstGeom prst="rect">
            <a:avLst/>
          </a:prstGeom>
          <a:noFill/>
        </p:spPr>
        <p:txBody>
          <a:bodyPr wrap="square" lIns="0" tIns="0" rIns="0" bIns="0">
            <a:spAutoFit/>
          </a:bodyPr>
          <a:lstStyle/>
          <a:p>
            <a:pPr algn="ctr"/>
            <a:r>
              <a:rPr sz="1200" b="1" i="0">
                <a:solidFill>
                  <a:srgbClr val="FFFFFF"/>
                </a:solidFill>
                <a:latin typeface="Calibri"/>
              </a:rPr>
              <a:t>Data Cleaning</a:t>
            </a:r>
          </a:p>
        </p:txBody>
      </p:sp>
      <p:sp>
        <p:nvSpPr>
          <p:cNvPr id="13" name="TextBox 12"/>
          <p:cNvSpPr txBox="1"/>
          <p:nvPr/>
        </p:nvSpPr>
        <p:spPr>
          <a:xfrm>
            <a:off x="2011680" y="2468880"/>
            <a:ext cx="1280160" cy="548640"/>
          </a:xfrm>
          <a:prstGeom prst="rect">
            <a:avLst/>
          </a:prstGeom>
          <a:noFill/>
        </p:spPr>
        <p:txBody>
          <a:bodyPr wrap="square" lIns="0" tIns="0" rIns="0" bIns="0">
            <a:spAutoFit/>
          </a:bodyPr>
          <a:lstStyle/>
          <a:p>
            <a:pPr algn="ctr"/>
            <a:r>
              <a:rPr sz="900" b="0" i="0">
                <a:solidFill>
                  <a:srgbClr val="CCDDFF"/>
                </a:solidFill>
                <a:latin typeface="Calibri"/>
              </a:rPr>
              <a:t>Notebook 01–02
Forward-fill, type-cast, dedupe</a:t>
            </a:r>
          </a:p>
        </p:txBody>
      </p:sp>
      <p:sp>
        <p:nvSpPr>
          <p:cNvPr id="14" name="Rectangle 13"/>
          <p:cNvSpPr/>
          <p:nvPr/>
        </p:nvSpPr>
        <p:spPr>
          <a:xfrm>
            <a:off x="3383280" y="2377440"/>
            <a:ext cx="164592" cy="128016"/>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38728" y="2304288"/>
            <a:ext cx="73152"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602736" y="1828800"/>
            <a:ext cx="1389888" cy="1234440"/>
          </a:xfrm>
          <a:prstGeom prst="roundRect">
            <a:avLst/>
          </a:prstGeom>
          <a:solidFill>
            <a:srgbClr val="126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5887" y="1938528"/>
            <a:ext cx="1280160" cy="502920"/>
          </a:xfrm>
          <a:prstGeom prst="rect">
            <a:avLst/>
          </a:prstGeom>
          <a:noFill/>
        </p:spPr>
        <p:txBody>
          <a:bodyPr wrap="square" lIns="0" tIns="0" rIns="0" bIns="0">
            <a:spAutoFit/>
          </a:bodyPr>
          <a:lstStyle/>
          <a:p>
            <a:pPr algn="ctr"/>
            <a:r>
              <a:rPr sz="1200" b="1" i="0">
                <a:solidFill>
                  <a:srgbClr val="FFFFFF"/>
                </a:solidFill>
                <a:latin typeface="Calibri"/>
              </a:rPr>
              <a:t>Python Processing</a:t>
            </a:r>
          </a:p>
        </p:txBody>
      </p:sp>
      <p:sp>
        <p:nvSpPr>
          <p:cNvPr id="18" name="TextBox 17"/>
          <p:cNvSpPr txBox="1"/>
          <p:nvPr/>
        </p:nvSpPr>
        <p:spPr>
          <a:xfrm>
            <a:off x="3675887" y="2468880"/>
            <a:ext cx="1280160" cy="548640"/>
          </a:xfrm>
          <a:prstGeom prst="rect">
            <a:avLst/>
          </a:prstGeom>
          <a:noFill/>
        </p:spPr>
        <p:txBody>
          <a:bodyPr wrap="square" lIns="0" tIns="0" rIns="0" bIns="0">
            <a:spAutoFit/>
          </a:bodyPr>
          <a:lstStyle/>
          <a:p>
            <a:pPr algn="ctr"/>
            <a:r>
              <a:rPr sz="900" b="0" i="0">
                <a:solidFill>
                  <a:srgbClr val="CCDDFF"/>
                </a:solidFill>
                <a:latin typeface="Calibri"/>
              </a:rPr>
              <a:t>etl_pipeline.py
5 Notebooks · 87K rows</a:t>
            </a:r>
          </a:p>
        </p:txBody>
      </p:sp>
      <p:sp>
        <p:nvSpPr>
          <p:cNvPr id="19" name="Rectangle 18"/>
          <p:cNvSpPr/>
          <p:nvPr/>
        </p:nvSpPr>
        <p:spPr>
          <a:xfrm>
            <a:off x="5047488" y="2377440"/>
            <a:ext cx="164592" cy="128016"/>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02936" y="2304288"/>
            <a:ext cx="73152"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266944" y="1828800"/>
            <a:ext cx="1389888" cy="1234440"/>
          </a:xfrm>
          <a:prstGeom prst="roundRect">
            <a:avLst/>
          </a:prstGeom>
          <a:solidFill>
            <a:srgbClr val="008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40096" y="1938528"/>
            <a:ext cx="1280160" cy="502920"/>
          </a:xfrm>
          <a:prstGeom prst="rect">
            <a:avLst/>
          </a:prstGeom>
          <a:noFill/>
        </p:spPr>
        <p:txBody>
          <a:bodyPr wrap="square" lIns="0" tIns="0" rIns="0" bIns="0">
            <a:spAutoFit/>
          </a:bodyPr>
          <a:lstStyle/>
          <a:p>
            <a:pPr algn="ctr"/>
            <a:r>
              <a:rPr sz="1200" b="1" i="0">
                <a:solidFill>
                  <a:srgbClr val="FFFFFF"/>
                </a:solidFill>
                <a:latin typeface="Calibri"/>
              </a:rPr>
              <a:t>Performance Metrics</a:t>
            </a:r>
          </a:p>
        </p:txBody>
      </p:sp>
      <p:sp>
        <p:nvSpPr>
          <p:cNvPr id="23" name="TextBox 22"/>
          <p:cNvSpPr txBox="1"/>
          <p:nvPr/>
        </p:nvSpPr>
        <p:spPr>
          <a:xfrm>
            <a:off x="5340096" y="2468880"/>
            <a:ext cx="1280160" cy="548640"/>
          </a:xfrm>
          <a:prstGeom prst="rect">
            <a:avLst/>
          </a:prstGeom>
          <a:noFill/>
        </p:spPr>
        <p:txBody>
          <a:bodyPr wrap="square" lIns="0" tIns="0" rIns="0" bIns="0">
            <a:spAutoFit/>
          </a:bodyPr>
          <a:lstStyle/>
          <a:p>
            <a:pPr algn="ctr"/>
            <a:r>
              <a:rPr sz="900" b="0" i="0">
                <a:solidFill>
                  <a:srgbClr val="CCDDFF"/>
                </a:solidFill>
                <a:latin typeface="Calibri"/>
              </a:rPr>
              <a:t>compute_metrics.py
CAGR · Sharpe · Alpha · Beta</a:t>
            </a:r>
          </a:p>
        </p:txBody>
      </p:sp>
      <p:sp>
        <p:nvSpPr>
          <p:cNvPr id="24" name="Rectangle 23"/>
          <p:cNvSpPr/>
          <p:nvPr/>
        </p:nvSpPr>
        <p:spPr>
          <a:xfrm>
            <a:off x="6711695" y="2377440"/>
            <a:ext cx="164592" cy="128016"/>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67143" y="2304288"/>
            <a:ext cx="73152"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931152" y="1828800"/>
            <a:ext cx="1389888" cy="12344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04304" y="1938528"/>
            <a:ext cx="1280160" cy="502920"/>
          </a:xfrm>
          <a:prstGeom prst="rect">
            <a:avLst/>
          </a:prstGeom>
          <a:noFill/>
        </p:spPr>
        <p:txBody>
          <a:bodyPr wrap="square" lIns="0" tIns="0" rIns="0" bIns="0">
            <a:spAutoFit/>
          </a:bodyPr>
          <a:lstStyle/>
          <a:p>
            <a:pPr algn="ctr"/>
            <a:r>
              <a:rPr sz="1200" b="1" i="0">
                <a:solidFill>
                  <a:srgbClr val="FFFFFF"/>
                </a:solidFill>
                <a:latin typeface="Calibri"/>
              </a:rPr>
              <a:t>SQLite Database</a:t>
            </a:r>
          </a:p>
        </p:txBody>
      </p:sp>
      <p:sp>
        <p:nvSpPr>
          <p:cNvPr id="28" name="TextBox 27"/>
          <p:cNvSpPr txBox="1"/>
          <p:nvPr/>
        </p:nvSpPr>
        <p:spPr>
          <a:xfrm>
            <a:off x="7004304" y="2468880"/>
            <a:ext cx="1280160" cy="548640"/>
          </a:xfrm>
          <a:prstGeom prst="rect">
            <a:avLst/>
          </a:prstGeom>
          <a:noFill/>
        </p:spPr>
        <p:txBody>
          <a:bodyPr wrap="square" lIns="0" tIns="0" rIns="0" bIns="0">
            <a:spAutoFit/>
          </a:bodyPr>
          <a:lstStyle/>
          <a:p>
            <a:pPr algn="ctr"/>
            <a:r>
              <a:rPr sz="900" b="0" i="0">
                <a:solidFill>
                  <a:srgbClr val="CCDDFF"/>
                </a:solidFill>
                <a:latin typeface="Calibri"/>
              </a:rPr>
              <a:t>star schema · 8 tables
fact_nav · fact_performance</a:t>
            </a:r>
          </a:p>
        </p:txBody>
      </p:sp>
      <p:sp>
        <p:nvSpPr>
          <p:cNvPr id="29" name="Rectangle 28"/>
          <p:cNvSpPr/>
          <p:nvPr/>
        </p:nvSpPr>
        <p:spPr>
          <a:xfrm>
            <a:off x="8375904" y="2377440"/>
            <a:ext cx="164592" cy="128016"/>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531352" y="2304288"/>
            <a:ext cx="73152"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595360" y="1828800"/>
            <a:ext cx="1389888" cy="123444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68512" y="1938528"/>
            <a:ext cx="1280160" cy="502920"/>
          </a:xfrm>
          <a:prstGeom prst="rect">
            <a:avLst/>
          </a:prstGeom>
          <a:noFill/>
        </p:spPr>
        <p:txBody>
          <a:bodyPr wrap="square" lIns="0" tIns="0" rIns="0" bIns="0">
            <a:spAutoFit/>
          </a:bodyPr>
          <a:lstStyle/>
          <a:p>
            <a:pPr algn="ctr"/>
            <a:r>
              <a:rPr sz="1200" b="1" i="0">
                <a:solidFill>
                  <a:srgbClr val="FFFFFF"/>
                </a:solidFill>
                <a:latin typeface="Calibri"/>
              </a:rPr>
              <a:t>Power BI Dashboard</a:t>
            </a:r>
          </a:p>
        </p:txBody>
      </p:sp>
      <p:sp>
        <p:nvSpPr>
          <p:cNvPr id="33" name="TextBox 32"/>
          <p:cNvSpPr txBox="1"/>
          <p:nvPr/>
        </p:nvSpPr>
        <p:spPr>
          <a:xfrm>
            <a:off x="8668512" y="2468880"/>
            <a:ext cx="1280160" cy="548640"/>
          </a:xfrm>
          <a:prstGeom prst="rect">
            <a:avLst/>
          </a:prstGeom>
          <a:noFill/>
        </p:spPr>
        <p:txBody>
          <a:bodyPr wrap="square" lIns="0" tIns="0" rIns="0" bIns="0">
            <a:spAutoFit/>
          </a:bodyPr>
          <a:lstStyle/>
          <a:p>
            <a:pPr algn="ctr"/>
            <a:r>
              <a:rPr sz="900" b="0" i="0">
                <a:solidFill>
                  <a:srgbClr val="CCDDFF"/>
                </a:solidFill>
                <a:latin typeface="Calibri"/>
              </a:rPr>
              <a:t>4 pages · 2+ slicers
KPI cards · scatter · heatmap</a:t>
            </a:r>
          </a:p>
        </p:txBody>
      </p:sp>
      <p:sp>
        <p:nvSpPr>
          <p:cNvPr id="34" name="Rectangle 33"/>
          <p:cNvSpPr/>
          <p:nvPr/>
        </p:nvSpPr>
        <p:spPr>
          <a:xfrm>
            <a:off x="10040112" y="2377440"/>
            <a:ext cx="164592" cy="128016"/>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195560" y="2304288"/>
            <a:ext cx="73152"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0259568" y="1828800"/>
            <a:ext cx="1389888" cy="1234440"/>
          </a:xfrm>
          <a:prstGeom prst="round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332720" y="1938528"/>
            <a:ext cx="1280160" cy="502920"/>
          </a:xfrm>
          <a:prstGeom prst="rect">
            <a:avLst/>
          </a:prstGeom>
          <a:noFill/>
        </p:spPr>
        <p:txBody>
          <a:bodyPr wrap="square" lIns="0" tIns="0" rIns="0" bIns="0">
            <a:spAutoFit/>
          </a:bodyPr>
          <a:lstStyle/>
          <a:p>
            <a:pPr algn="ctr"/>
            <a:r>
              <a:rPr sz="1200" b="1" i="0">
                <a:solidFill>
                  <a:srgbClr val="FFFFFF"/>
                </a:solidFill>
                <a:latin typeface="Calibri"/>
              </a:rPr>
              <a:t>Investor Insights</a:t>
            </a:r>
          </a:p>
        </p:txBody>
      </p:sp>
      <p:sp>
        <p:nvSpPr>
          <p:cNvPr id="38" name="TextBox 37"/>
          <p:cNvSpPr txBox="1"/>
          <p:nvPr/>
        </p:nvSpPr>
        <p:spPr>
          <a:xfrm>
            <a:off x="10332720" y="2468880"/>
            <a:ext cx="1280160" cy="548640"/>
          </a:xfrm>
          <a:prstGeom prst="rect">
            <a:avLst/>
          </a:prstGeom>
          <a:noFill/>
        </p:spPr>
        <p:txBody>
          <a:bodyPr wrap="square" lIns="0" tIns="0" rIns="0" bIns="0">
            <a:spAutoFit/>
          </a:bodyPr>
          <a:lstStyle/>
          <a:p>
            <a:pPr algn="ctr"/>
            <a:r>
              <a:rPr sz="900" b="0" i="0">
                <a:solidFill>
                  <a:srgbClr val="CCDDFF"/>
                </a:solidFill>
                <a:latin typeface="Calibri"/>
              </a:rPr>
              <a:t>Scorecard 0–100
recommender.py · Fund Ranking</a:t>
            </a:r>
          </a:p>
        </p:txBody>
      </p:sp>
      <p:sp>
        <p:nvSpPr>
          <p:cNvPr id="39" name="Rounded Rectangle 38"/>
          <p:cNvSpPr/>
          <p:nvPr/>
        </p:nvSpPr>
        <p:spPr>
          <a:xfrm>
            <a:off x="320040" y="3429000"/>
            <a:ext cx="2788920" cy="10515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3493008"/>
            <a:ext cx="2560320" cy="411480"/>
          </a:xfrm>
          <a:prstGeom prst="rect">
            <a:avLst/>
          </a:prstGeom>
          <a:noFill/>
        </p:spPr>
        <p:txBody>
          <a:bodyPr wrap="square" lIns="0" tIns="0" rIns="0" bIns="0">
            <a:spAutoFit/>
          </a:bodyPr>
          <a:lstStyle/>
          <a:p>
            <a:pPr algn="l"/>
            <a:r>
              <a:rPr sz="1200" b="1" i="0">
                <a:solidFill>
                  <a:srgbClr val="124E8A"/>
                </a:solidFill>
                <a:latin typeface="Calibri"/>
              </a:rPr>
              <a:t>5 Jupyter Notebooks</a:t>
            </a:r>
          </a:p>
        </p:txBody>
      </p:sp>
      <p:sp>
        <p:nvSpPr>
          <p:cNvPr id="41" name="TextBox 40"/>
          <p:cNvSpPr txBox="1"/>
          <p:nvPr/>
        </p:nvSpPr>
        <p:spPr>
          <a:xfrm>
            <a:off x="457200" y="3913632"/>
            <a:ext cx="2560320" cy="457200"/>
          </a:xfrm>
          <a:prstGeom prst="rect">
            <a:avLst/>
          </a:prstGeom>
          <a:noFill/>
        </p:spPr>
        <p:txBody>
          <a:bodyPr wrap="square" lIns="0" tIns="0" rIns="0" bIns="0">
            <a:spAutoFit/>
          </a:bodyPr>
          <a:lstStyle/>
          <a:p>
            <a:pPr algn="l"/>
            <a:r>
              <a:rPr sz="1000" b="0" i="0">
                <a:solidFill>
                  <a:srgbClr val="445B7C"/>
                </a:solidFill>
                <a:latin typeface="Calibri"/>
              </a:rPr>
              <a:t>EDA → Performance → Advanced Analytics</a:t>
            </a:r>
          </a:p>
        </p:txBody>
      </p:sp>
      <p:sp>
        <p:nvSpPr>
          <p:cNvPr id="42" name="Rounded Rectangle 41"/>
          <p:cNvSpPr/>
          <p:nvPr/>
        </p:nvSpPr>
        <p:spPr>
          <a:xfrm>
            <a:off x="3246120" y="3429000"/>
            <a:ext cx="2788920" cy="10515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83280" y="3493008"/>
            <a:ext cx="2560320" cy="411480"/>
          </a:xfrm>
          <a:prstGeom prst="rect">
            <a:avLst/>
          </a:prstGeom>
          <a:noFill/>
        </p:spPr>
        <p:txBody>
          <a:bodyPr wrap="square" lIns="0" tIns="0" rIns="0" bIns="0">
            <a:spAutoFit/>
          </a:bodyPr>
          <a:lstStyle/>
          <a:p>
            <a:pPr algn="l"/>
            <a:r>
              <a:rPr sz="1200" b="1" i="0">
                <a:solidFill>
                  <a:srgbClr val="124E8A"/>
                </a:solidFill>
                <a:latin typeface="Calibri"/>
              </a:rPr>
              <a:t>3 Python Scripts</a:t>
            </a:r>
          </a:p>
        </p:txBody>
      </p:sp>
      <p:sp>
        <p:nvSpPr>
          <p:cNvPr id="44" name="TextBox 43"/>
          <p:cNvSpPr txBox="1"/>
          <p:nvPr/>
        </p:nvSpPr>
        <p:spPr>
          <a:xfrm>
            <a:off x="3383280" y="3913632"/>
            <a:ext cx="2560320" cy="457200"/>
          </a:xfrm>
          <a:prstGeom prst="rect">
            <a:avLst/>
          </a:prstGeom>
          <a:noFill/>
        </p:spPr>
        <p:txBody>
          <a:bodyPr wrap="square" lIns="0" tIns="0" rIns="0" bIns="0">
            <a:spAutoFit/>
          </a:bodyPr>
          <a:lstStyle/>
          <a:p>
            <a:pPr algn="l"/>
            <a:r>
              <a:rPr sz="1000" b="0" i="0">
                <a:solidFill>
                  <a:srgbClr val="445B7C"/>
                </a:solidFill>
                <a:latin typeface="Calibri"/>
              </a:rPr>
              <a:t>ETL · Metrics · Recommender</a:t>
            </a:r>
          </a:p>
        </p:txBody>
      </p:sp>
      <p:sp>
        <p:nvSpPr>
          <p:cNvPr id="45" name="Rounded Rectangle 44"/>
          <p:cNvSpPr/>
          <p:nvPr/>
        </p:nvSpPr>
        <p:spPr>
          <a:xfrm>
            <a:off x="6172200" y="3429000"/>
            <a:ext cx="2788920" cy="10515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09360" y="3493008"/>
            <a:ext cx="2560320" cy="411480"/>
          </a:xfrm>
          <a:prstGeom prst="rect">
            <a:avLst/>
          </a:prstGeom>
          <a:noFill/>
        </p:spPr>
        <p:txBody>
          <a:bodyPr wrap="square" lIns="0" tIns="0" rIns="0" bIns="0">
            <a:spAutoFit/>
          </a:bodyPr>
          <a:lstStyle/>
          <a:p>
            <a:pPr algn="l"/>
            <a:r>
              <a:rPr sz="1200" b="1" i="0">
                <a:solidFill>
                  <a:srgbClr val="124E8A"/>
                </a:solidFill>
                <a:latin typeface="Calibri"/>
              </a:rPr>
              <a:t>10 SQL Queries</a:t>
            </a:r>
          </a:p>
        </p:txBody>
      </p:sp>
      <p:sp>
        <p:nvSpPr>
          <p:cNvPr id="47" name="TextBox 46"/>
          <p:cNvSpPr txBox="1"/>
          <p:nvPr/>
        </p:nvSpPr>
        <p:spPr>
          <a:xfrm>
            <a:off x="6309360" y="3913632"/>
            <a:ext cx="2560320" cy="457200"/>
          </a:xfrm>
          <a:prstGeom prst="rect">
            <a:avLst/>
          </a:prstGeom>
          <a:noFill/>
        </p:spPr>
        <p:txBody>
          <a:bodyPr wrap="square" lIns="0" tIns="0" rIns="0" bIns="0">
            <a:spAutoFit/>
          </a:bodyPr>
          <a:lstStyle/>
          <a:p>
            <a:pPr algn="l"/>
            <a:r>
              <a:rPr sz="1000" b="0" i="0">
                <a:solidFill>
                  <a:srgbClr val="445B7C"/>
                </a:solidFill>
                <a:latin typeface="Calibri"/>
              </a:rPr>
              <a:t>Analytical queries on star schema</a:t>
            </a:r>
          </a:p>
        </p:txBody>
      </p:sp>
      <p:sp>
        <p:nvSpPr>
          <p:cNvPr id="48" name="Rounded Rectangle 47"/>
          <p:cNvSpPr/>
          <p:nvPr/>
        </p:nvSpPr>
        <p:spPr>
          <a:xfrm>
            <a:off x="9098280" y="3429000"/>
            <a:ext cx="2788920" cy="10515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235440" y="3493008"/>
            <a:ext cx="2560320" cy="411480"/>
          </a:xfrm>
          <a:prstGeom prst="rect">
            <a:avLst/>
          </a:prstGeom>
          <a:noFill/>
        </p:spPr>
        <p:txBody>
          <a:bodyPr wrap="square" lIns="0" tIns="0" rIns="0" bIns="0">
            <a:spAutoFit/>
          </a:bodyPr>
          <a:lstStyle/>
          <a:p>
            <a:pPr algn="l"/>
            <a:r>
              <a:rPr sz="1200" b="1" i="0">
                <a:solidFill>
                  <a:srgbClr val="124E8A"/>
                </a:solidFill>
                <a:latin typeface="Calibri"/>
              </a:rPr>
              <a:t>4-Page Power BI</a:t>
            </a:r>
          </a:p>
        </p:txBody>
      </p:sp>
      <p:sp>
        <p:nvSpPr>
          <p:cNvPr id="50" name="TextBox 49"/>
          <p:cNvSpPr txBox="1"/>
          <p:nvPr/>
        </p:nvSpPr>
        <p:spPr>
          <a:xfrm>
            <a:off x="9235440" y="3913632"/>
            <a:ext cx="2560320" cy="457200"/>
          </a:xfrm>
          <a:prstGeom prst="rect">
            <a:avLst/>
          </a:prstGeom>
          <a:noFill/>
        </p:spPr>
        <p:txBody>
          <a:bodyPr wrap="square" lIns="0" tIns="0" rIns="0" bIns="0">
            <a:spAutoFit/>
          </a:bodyPr>
          <a:lstStyle/>
          <a:p>
            <a:pPr algn="l"/>
            <a:r>
              <a:rPr sz="1000" b="0" i="0">
                <a:solidFill>
                  <a:srgbClr val="445B7C"/>
                </a:solidFill>
                <a:latin typeface="Calibri"/>
              </a:rPr>
              <a:t>Industry · Performance · Investor · Trends</a:t>
            </a:r>
          </a:p>
        </p:txBody>
      </p:sp>
      <p:sp>
        <p:nvSpPr>
          <p:cNvPr id="51" name="TextBox 50"/>
          <p:cNvSpPr txBox="1"/>
          <p:nvPr/>
        </p:nvSpPr>
        <p:spPr>
          <a:xfrm>
            <a:off x="320040" y="3246120"/>
            <a:ext cx="4572000" cy="274320"/>
          </a:xfrm>
          <a:prstGeom prst="rect">
            <a:avLst/>
          </a:prstGeom>
          <a:noFill/>
        </p:spPr>
        <p:txBody>
          <a:bodyPr wrap="square" lIns="0" tIns="0" rIns="0" bIns="0">
            <a:spAutoFit/>
          </a:bodyPr>
          <a:lstStyle/>
          <a:p>
            <a:pPr algn="l"/>
            <a:r>
              <a:rPr sz="1000" b="1" i="0">
                <a:solidFill>
                  <a:srgbClr val="445B7C"/>
                </a:solidFill>
                <a:latin typeface="Calibri"/>
              </a:rPr>
              <a:t>KEY DELIVERABLES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Data Processing &amp; Methodology</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Formulas · Algorithms · Validation Techniques</a:t>
            </a:r>
          </a:p>
        </p:txBody>
      </p:sp>
      <p:sp>
        <p:nvSpPr>
          <p:cNvPr id="6" name="Oval 5"/>
          <p:cNvSpPr/>
          <p:nvPr/>
        </p:nvSpPr>
        <p:spPr>
          <a:xfrm>
            <a:off x="320040" y="1298448"/>
            <a:ext cx="365760" cy="36576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298448"/>
            <a:ext cx="365760" cy="365760"/>
          </a:xfrm>
          <a:prstGeom prst="rect">
            <a:avLst/>
          </a:prstGeom>
          <a:noFill/>
        </p:spPr>
        <p:txBody>
          <a:bodyPr wrap="square" lIns="0" tIns="0" rIns="0" bIns="0">
            <a:spAutoFit/>
          </a:bodyPr>
          <a:lstStyle/>
          <a:p>
            <a:pPr algn="ctr"/>
            <a:r>
              <a:rPr sz="1100" b="1" i="0">
                <a:solidFill>
                  <a:srgbClr val="FFFFFF"/>
                </a:solidFill>
                <a:latin typeface="Calibri"/>
              </a:rPr>
              <a:t>1</a:t>
            </a:r>
          </a:p>
        </p:txBody>
      </p:sp>
      <p:sp>
        <p:nvSpPr>
          <p:cNvPr id="8" name="TextBox 7"/>
          <p:cNvSpPr txBox="1"/>
          <p:nvPr/>
        </p:nvSpPr>
        <p:spPr>
          <a:xfrm>
            <a:off x="804672" y="1234440"/>
            <a:ext cx="2560320" cy="320040"/>
          </a:xfrm>
          <a:prstGeom prst="rect">
            <a:avLst/>
          </a:prstGeom>
          <a:noFill/>
        </p:spPr>
        <p:txBody>
          <a:bodyPr wrap="square" lIns="0" tIns="0" rIns="0" bIns="0">
            <a:spAutoFit/>
          </a:bodyPr>
          <a:lstStyle/>
          <a:p>
            <a:pPr algn="l"/>
            <a:r>
              <a:rPr sz="1200" b="1" i="0">
                <a:solidFill>
                  <a:srgbClr val="124E8A"/>
                </a:solidFill>
                <a:latin typeface="Calibri"/>
              </a:rPr>
              <a:t>Data Ingestion</a:t>
            </a:r>
          </a:p>
        </p:txBody>
      </p:sp>
      <p:sp>
        <p:nvSpPr>
          <p:cNvPr id="9" name="TextBox 8"/>
          <p:cNvSpPr txBox="1"/>
          <p:nvPr/>
        </p:nvSpPr>
        <p:spPr>
          <a:xfrm>
            <a:off x="804672" y="1572768"/>
            <a:ext cx="3246120" cy="457200"/>
          </a:xfrm>
          <a:prstGeom prst="rect">
            <a:avLst/>
          </a:prstGeom>
          <a:noFill/>
        </p:spPr>
        <p:txBody>
          <a:bodyPr wrap="square" lIns="0" tIns="0" rIns="0" bIns="0">
            <a:spAutoFit/>
          </a:bodyPr>
          <a:lstStyle/>
          <a:p>
            <a:pPr algn="l"/>
            <a:r>
              <a:rPr sz="1000" b="0" i="0">
                <a:solidFill>
                  <a:srgbClr val="1A1A2E"/>
                </a:solidFill>
                <a:latin typeface="Calibri"/>
              </a:rPr>
              <a:t>Load 15 CSVs from data/raw/ + live mfapi.in API calls for 5 key schemes</a:t>
            </a:r>
          </a:p>
        </p:txBody>
      </p:sp>
      <p:sp>
        <p:nvSpPr>
          <p:cNvPr id="10" name="Oval 9"/>
          <p:cNvSpPr/>
          <p:nvPr/>
        </p:nvSpPr>
        <p:spPr>
          <a:xfrm>
            <a:off x="320040" y="2231136"/>
            <a:ext cx="365760" cy="36576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231136"/>
            <a:ext cx="365760" cy="365760"/>
          </a:xfrm>
          <a:prstGeom prst="rect">
            <a:avLst/>
          </a:prstGeom>
          <a:noFill/>
        </p:spPr>
        <p:txBody>
          <a:bodyPr wrap="square" lIns="0" tIns="0" rIns="0" bIns="0">
            <a:spAutoFit/>
          </a:bodyPr>
          <a:lstStyle/>
          <a:p>
            <a:pPr algn="ctr"/>
            <a:r>
              <a:rPr sz="1100" b="1" i="0">
                <a:solidFill>
                  <a:srgbClr val="FFFFFF"/>
                </a:solidFill>
                <a:latin typeface="Calibri"/>
              </a:rPr>
              <a:t>2</a:t>
            </a:r>
          </a:p>
        </p:txBody>
      </p:sp>
      <p:sp>
        <p:nvSpPr>
          <p:cNvPr id="12" name="TextBox 11"/>
          <p:cNvSpPr txBox="1"/>
          <p:nvPr/>
        </p:nvSpPr>
        <p:spPr>
          <a:xfrm>
            <a:off x="804672" y="2167128"/>
            <a:ext cx="2560320" cy="320040"/>
          </a:xfrm>
          <a:prstGeom prst="rect">
            <a:avLst/>
          </a:prstGeom>
          <a:noFill/>
        </p:spPr>
        <p:txBody>
          <a:bodyPr wrap="square" lIns="0" tIns="0" rIns="0" bIns="0">
            <a:spAutoFit/>
          </a:bodyPr>
          <a:lstStyle/>
          <a:p>
            <a:pPr algn="l"/>
            <a:r>
              <a:rPr sz="1200" b="1" i="0">
                <a:solidFill>
                  <a:srgbClr val="124E8A"/>
                </a:solidFill>
                <a:latin typeface="Calibri"/>
              </a:rPr>
              <a:t>Cleaning &amp; Validation</a:t>
            </a:r>
          </a:p>
        </p:txBody>
      </p:sp>
      <p:sp>
        <p:nvSpPr>
          <p:cNvPr id="13" name="TextBox 12"/>
          <p:cNvSpPr txBox="1"/>
          <p:nvPr/>
        </p:nvSpPr>
        <p:spPr>
          <a:xfrm>
            <a:off x="804672" y="2505456"/>
            <a:ext cx="3246120" cy="457200"/>
          </a:xfrm>
          <a:prstGeom prst="rect">
            <a:avLst/>
          </a:prstGeom>
          <a:noFill/>
        </p:spPr>
        <p:txBody>
          <a:bodyPr wrap="square" lIns="0" tIns="0" rIns="0" bIns="0">
            <a:spAutoFit/>
          </a:bodyPr>
          <a:lstStyle/>
          <a:p>
            <a:pPr algn="l"/>
            <a:r>
              <a:rPr sz="1000" b="0" i="0">
                <a:solidFill>
                  <a:srgbClr val="1A1A2E"/>
                </a:solidFill>
                <a:latin typeface="Calibri"/>
              </a:rPr>
              <a:t>Forward-fill weekends, type-cast NAV to float, deduplicate, validate date ranges</a:t>
            </a:r>
          </a:p>
        </p:txBody>
      </p:sp>
      <p:sp>
        <p:nvSpPr>
          <p:cNvPr id="14" name="Oval 13"/>
          <p:cNvSpPr/>
          <p:nvPr/>
        </p:nvSpPr>
        <p:spPr>
          <a:xfrm>
            <a:off x="320040" y="3163824"/>
            <a:ext cx="365760" cy="36576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3163824"/>
            <a:ext cx="365760" cy="365760"/>
          </a:xfrm>
          <a:prstGeom prst="rect">
            <a:avLst/>
          </a:prstGeom>
          <a:noFill/>
        </p:spPr>
        <p:txBody>
          <a:bodyPr wrap="square" lIns="0" tIns="0" rIns="0" bIns="0">
            <a:spAutoFit/>
          </a:bodyPr>
          <a:lstStyle/>
          <a:p>
            <a:pPr algn="ctr"/>
            <a:r>
              <a:rPr sz="1100" b="1" i="0">
                <a:solidFill>
                  <a:srgbClr val="FFFFFF"/>
                </a:solidFill>
                <a:latin typeface="Calibri"/>
              </a:rPr>
              <a:t>3</a:t>
            </a:r>
          </a:p>
        </p:txBody>
      </p:sp>
      <p:sp>
        <p:nvSpPr>
          <p:cNvPr id="16" name="TextBox 15"/>
          <p:cNvSpPr txBox="1"/>
          <p:nvPr/>
        </p:nvSpPr>
        <p:spPr>
          <a:xfrm>
            <a:off x="804672" y="3099815"/>
            <a:ext cx="2560320" cy="320040"/>
          </a:xfrm>
          <a:prstGeom prst="rect">
            <a:avLst/>
          </a:prstGeom>
          <a:noFill/>
        </p:spPr>
        <p:txBody>
          <a:bodyPr wrap="square" lIns="0" tIns="0" rIns="0" bIns="0">
            <a:spAutoFit/>
          </a:bodyPr>
          <a:lstStyle/>
          <a:p>
            <a:pPr algn="l"/>
            <a:r>
              <a:rPr sz="1200" b="1" i="0">
                <a:solidFill>
                  <a:srgbClr val="124E8A"/>
                </a:solidFill>
                <a:latin typeface="Calibri"/>
              </a:rPr>
              <a:t>Daily Return Calc</a:t>
            </a:r>
          </a:p>
        </p:txBody>
      </p:sp>
      <p:sp>
        <p:nvSpPr>
          <p:cNvPr id="17" name="TextBox 16"/>
          <p:cNvSpPr txBox="1"/>
          <p:nvPr/>
        </p:nvSpPr>
        <p:spPr>
          <a:xfrm>
            <a:off x="804672" y="3438144"/>
            <a:ext cx="3246120" cy="457200"/>
          </a:xfrm>
          <a:prstGeom prst="rect">
            <a:avLst/>
          </a:prstGeom>
          <a:noFill/>
        </p:spPr>
        <p:txBody>
          <a:bodyPr wrap="square" lIns="0" tIns="0" rIns="0" bIns="0">
            <a:spAutoFit/>
          </a:bodyPr>
          <a:lstStyle/>
          <a:p>
            <a:pPr algn="l"/>
            <a:r>
              <a:rPr sz="1000" b="0" i="0">
                <a:solidFill>
                  <a:srgbClr val="1A1A2E"/>
                </a:solidFill>
                <a:latin typeface="Calibri"/>
              </a:rPr>
              <a:t>return_t = NAV_t / NAV_{t-1} – 1  (vectorized with Pandas shift)</a:t>
            </a:r>
          </a:p>
        </p:txBody>
      </p:sp>
      <p:sp>
        <p:nvSpPr>
          <p:cNvPr id="18" name="Oval 17"/>
          <p:cNvSpPr/>
          <p:nvPr/>
        </p:nvSpPr>
        <p:spPr>
          <a:xfrm>
            <a:off x="320040" y="4096512"/>
            <a:ext cx="365760" cy="36576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 y="4096512"/>
            <a:ext cx="365760" cy="365760"/>
          </a:xfrm>
          <a:prstGeom prst="rect">
            <a:avLst/>
          </a:prstGeom>
          <a:noFill/>
        </p:spPr>
        <p:txBody>
          <a:bodyPr wrap="square" lIns="0" tIns="0" rIns="0" bIns="0">
            <a:spAutoFit/>
          </a:bodyPr>
          <a:lstStyle/>
          <a:p>
            <a:pPr algn="ctr"/>
            <a:r>
              <a:rPr sz="1100" b="1" i="0">
                <a:solidFill>
                  <a:srgbClr val="FFFFFF"/>
                </a:solidFill>
                <a:latin typeface="Calibri"/>
              </a:rPr>
              <a:t>4</a:t>
            </a:r>
          </a:p>
        </p:txBody>
      </p:sp>
      <p:sp>
        <p:nvSpPr>
          <p:cNvPr id="20" name="TextBox 19"/>
          <p:cNvSpPr txBox="1"/>
          <p:nvPr/>
        </p:nvSpPr>
        <p:spPr>
          <a:xfrm>
            <a:off x="804672" y="4032504"/>
            <a:ext cx="2560320" cy="320040"/>
          </a:xfrm>
          <a:prstGeom prst="rect">
            <a:avLst/>
          </a:prstGeom>
          <a:noFill/>
        </p:spPr>
        <p:txBody>
          <a:bodyPr wrap="square" lIns="0" tIns="0" rIns="0" bIns="0">
            <a:spAutoFit/>
          </a:bodyPr>
          <a:lstStyle/>
          <a:p>
            <a:pPr algn="l"/>
            <a:r>
              <a:rPr sz="1200" b="1" i="0">
                <a:solidFill>
                  <a:srgbClr val="124E8A"/>
                </a:solidFill>
                <a:latin typeface="Calibri"/>
              </a:rPr>
              <a:t>CAGR Computation</a:t>
            </a:r>
          </a:p>
        </p:txBody>
      </p:sp>
      <p:sp>
        <p:nvSpPr>
          <p:cNvPr id="21" name="TextBox 20"/>
          <p:cNvSpPr txBox="1"/>
          <p:nvPr/>
        </p:nvSpPr>
        <p:spPr>
          <a:xfrm>
            <a:off x="804672" y="4370832"/>
            <a:ext cx="3246120" cy="457200"/>
          </a:xfrm>
          <a:prstGeom prst="rect">
            <a:avLst/>
          </a:prstGeom>
          <a:noFill/>
        </p:spPr>
        <p:txBody>
          <a:bodyPr wrap="square" lIns="0" tIns="0" rIns="0" bIns="0">
            <a:spAutoFit/>
          </a:bodyPr>
          <a:lstStyle/>
          <a:p>
            <a:pPr algn="l"/>
            <a:r>
              <a:rPr sz="1000" b="0" i="0">
                <a:solidFill>
                  <a:srgbClr val="1A1A2E"/>
                </a:solidFill>
                <a:latin typeface="Calibri"/>
              </a:rPr>
              <a:t>CAGR = (NAV_end / NAV_start)^(252/n_days) – 1  (trading days normalized)</a:t>
            </a:r>
          </a:p>
        </p:txBody>
      </p:sp>
      <p:sp>
        <p:nvSpPr>
          <p:cNvPr id="22" name="Oval 21"/>
          <p:cNvSpPr/>
          <p:nvPr/>
        </p:nvSpPr>
        <p:spPr>
          <a:xfrm>
            <a:off x="320040" y="5029200"/>
            <a:ext cx="365760" cy="36576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 y="5029200"/>
            <a:ext cx="365760" cy="365760"/>
          </a:xfrm>
          <a:prstGeom prst="rect">
            <a:avLst/>
          </a:prstGeom>
          <a:noFill/>
        </p:spPr>
        <p:txBody>
          <a:bodyPr wrap="square" lIns="0" tIns="0" rIns="0" bIns="0">
            <a:spAutoFit/>
          </a:bodyPr>
          <a:lstStyle/>
          <a:p>
            <a:pPr algn="ctr"/>
            <a:r>
              <a:rPr sz="1100" b="1" i="0">
                <a:solidFill>
                  <a:srgbClr val="FFFFFF"/>
                </a:solidFill>
                <a:latin typeface="Calibri"/>
              </a:rPr>
              <a:t>5</a:t>
            </a:r>
          </a:p>
        </p:txBody>
      </p:sp>
      <p:sp>
        <p:nvSpPr>
          <p:cNvPr id="24" name="TextBox 23"/>
          <p:cNvSpPr txBox="1"/>
          <p:nvPr/>
        </p:nvSpPr>
        <p:spPr>
          <a:xfrm>
            <a:off x="804672" y="4965192"/>
            <a:ext cx="2560320" cy="320040"/>
          </a:xfrm>
          <a:prstGeom prst="rect">
            <a:avLst/>
          </a:prstGeom>
          <a:noFill/>
        </p:spPr>
        <p:txBody>
          <a:bodyPr wrap="square" lIns="0" tIns="0" rIns="0" bIns="0">
            <a:spAutoFit/>
          </a:bodyPr>
          <a:lstStyle/>
          <a:p>
            <a:pPr algn="l"/>
            <a:r>
              <a:rPr sz="1200" b="1" i="0">
                <a:solidFill>
                  <a:srgbClr val="124E8A"/>
                </a:solidFill>
                <a:latin typeface="Calibri"/>
              </a:rPr>
              <a:t>Risk Metrics</a:t>
            </a:r>
          </a:p>
        </p:txBody>
      </p:sp>
      <p:sp>
        <p:nvSpPr>
          <p:cNvPr id="25" name="TextBox 24"/>
          <p:cNvSpPr txBox="1"/>
          <p:nvPr/>
        </p:nvSpPr>
        <p:spPr>
          <a:xfrm>
            <a:off x="804672" y="5303520"/>
            <a:ext cx="3246120" cy="457200"/>
          </a:xfrm>
          <a:prstGeom prst="rect">
            <a:avLst/>
          </a:prstGeom>
          <a:noFill/>
        </p:spPr>
        <p:txBody>
          <a:bodyPr wrap="square" lIns="0" tIns="0" rIns="0" bIns="0">
            <a:spAutoFit/>
          </a:bodyPr>
          <a:lstStyle/>
          <a:p>
            <a:pPr algn="l"/>
            <a:r>
              <a:rPr sz="1000" b="0" i="0">
                <a:solidFill>
                  <a:srgbClr val="1A1A2E"/>
                </a:solidFill>
                <a:latin typeface="Calibri"/>
              </a:rPr>
              <a:t>Sharpe = (Rp – Rf) / σ × √252  |  Rf = 6.5% RBI repo proxy</a:t>
            </a:r>
          </a:p>
        </p:txBody>
      </p:sp>
      <p:sp>
        <p:nvSpPr>
          <p:cNvPr id="26" name="Oval 25"/>
          <p:cNvSpPr/>
          <p:nvPr/>
        </p:nvSpPr>
        <p:spPr>
          <a:xfrm>
            <a:off x="320040" y="5961888"/>
            <a:ext cx="365760" cy="36576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5961888"/>
            <a:ext cx="365760" cy="365760"/>
          </a:xfrm>
          <a:prstGeom prst="rect">
            <a:avLst/>
          </a:prstGeom>
          <a:noFill/>
        </p:spPr>
        <p:txBody>
          <a:bodyPr wrap="square" lIns="0" tIns="0" rIns="0" bIns="0">
            <a:spAutoFit/>
          </a:bodyPr>
          <a:lstStyle/>
          <a:p>
            <a:pPr algn="ctr"/>
            <a:r>
              <a:rPr sz="1100" b="1" i="0">
                <a:solidFill>
                  <a:srgbClr val="FFFFFF"/>
                </a:solidFill>
                <a:latin typeface="Calibri"/>
              </a:rPr>
              <a:t>6</a:t>
            </a:r>
          </a:p>
        </p:txBody>
      </p:sp>
      <p:sp>
        <p:nvSpPr>
          <p:cNvPr id="28" name="TextBox 27"/>
          <p:cNvSpPr txBox="1"/>
          <p:nvPr/>
        </p:nvSpPr>
        <p:spPr>
          <a:xfrm>
            <a:off x="804672" y="5897879"/>
            <a:ext cx="2560320" cy="320040"/>
          </a:xfrm>
          <a:prstGeom prst="rect">
            <a:avLst/>
          </a:prstGeom>
          <a:noFill/>
        </p:spPr>
        <p:txBody>
          <a:bodyPr wrap="square" lIns="0" tIns="0" rIns="0" bIns="0">
            <a:spAutoFit/>
          </a:bodyPr>
          <a:lstStyle/>
          <a:p>
            <a:pPr algn="l"/>
            <a:r>
              <a:rPr sz="1200" b="1" i="0">
                <a:solidFill>
                  <a:srgbClr val="124E8A"/>
                </a:solidFill>
                <a:latin typeface="Calibri"/>
              </a:rPr>
              <a:t>Advanced Analytics</a:t>
            </a:r>
          </a:p>
        </p:txBody>
      </p:sp>
      <p:sp>
        <p:nvSpPr>
          <p:cNvPr id="29" name="TextBox 28"/>
          <p:cNvSpPr txBox="1"/>
          <p:nvPr/>
        </p:nvSpPr>
        <p:spPr>
          <a:xfrm>
            <a:off x="804672" y="6236207"/>
            <a:ext cx="3246120" cy="457200"/>
          </a:xfrm>
          <a:prstGeom prst="rect">
            <a:avLst/>
          </a:prstGeom>
          <a:noFill/>
        </p:spPr>
        <p:txBody>
          <a:bodyPr wrap="square" lIns="0" tIns="0" rIns="0" bIns="0">
            <a:spAutoFit/>
          </a:bodyPr>
          <a:lstStyle/>
          <a:p>
            <a:pPr algn="l"/>
            <a:r>
              <a:rPr sz="1000" b="0" i="0">
                <a:solidFill>
                  <a:srgbClr val="1A1A2E"/>
                </a:solidFill>
                <a:latin typeface="Calibri"/>
              </a:rPr>
              <a:t>VaR (95%), CVaR, Rolling 90-day Sharpe, Investor Cohort, Sector HHI</a:t>
            </a:r>
          </a:p>
        </p:txBody>
      </p:sp>
      <p:sp>
        <p:nvSpPr>
          <p:cNvPr id="30" name="TextBox 29"/>
          <p:cNvSpPr txBox="1"/>
          <p:nvPr/>
        </p:nvSpPr>
        <p:spPr>
          <a:xfrm>
            <a:off x="4343400" y="1115568"/>
            <a:ext cx="4114800" cy="320040"/>
          </a:xfrm>
          <a:prstGeom prst="rect">
            <a:avLst/>
          </a:prstGeom>
          <a:noFill/>
        </p:spPr>
        <p:txBody>
          <a:bodyPr wrap="square" lIns="0" tIns="0" rIns="0" bIns="0">
            <a:spAutoFit/>
          </a:bodyPr>
          <a:lstStyle/>
          <a:p>
            <a:pPr algn="l"/>
            <a:r>
              <a:rPr sz="1100" b="1" i="0">
                <a:solidFill>
                  <a:srgbClr val="445B7C"/>
                </a:solidFill>
                <a:latin typeface="Calibri"/>
              </a:rPr>
              <a:t>KEY FORMULAS</a:t>
            </a:r>
          </a:p>
        </p:txBody>
      </p:sp>
      <p:sp>
        <p:nvSpPr>
          <p:cNvPr id="31" name="Rounded Rectangle 30"/>
          <p:cNvSpPr/>
          <p:nvPr/>
        </p:nvSpPr>
        <p:spPr>
          <a:xfrm>
            <a:off x="4297680" y="1508760"/>
            <a:ext cx="758952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80560" y="1545336"/>
            <a:ext cx="2011680" cy="320040"/>
          </a:xfrm>
          <a:prstGeom prst="rect">
            <a:avLst/>
          </a:prstGeom>
          <a:noFill/>
        </p:spPr>
        <p:txBody>
          <a:bodyPr wrap="square" lIns="0" tIns="0" rIns="0" bIns="0">
            <a:spAutoFit/>
          </a:bodyPr>
          <a:lstStyle/>
          <a:p>
            <a:pPr algn="l"/>
            <a:r>
              <a:rPr sz="1100" b="1" i="0">
                <a:solidFill>
                  <a:srgbClr val="124E8A"/>
                </a:solidFill>
                <a:latin typeface="Calibri"/>
              </a:rPr>
              <a:t>Daily Return</a:t>
            </a:r>
          </a:p>
        </p:txBody>
      </p:sp>
      <p:sp>
        <p:nvSpPr>
          <p:cNvPr id="33" name="TextBox 32"/>
          <p:cNvSpPr txBox="1"/>
          <p:nvPr/>
        </p:nvSpPr>
        <p:spPr>
          <a:xfrm>
            <a:off x="6492240" y="1545336"/>
            <a:ext cx="5212080" cy="640080"/>
          </a:xfrm>
          <a:prstGeom prst="rect">
            <a:avLst/>
          </a:prstGeom>
          <a:noFill/>
        </p:spPr>
        <p:txBody>
          <a:bodyPr wrap="square" lIns="0" tIns="0" rIns="0" bIns="0">
            <a:spAutoFit/>
          </a:bodyPr>
          <a:lstStyle/>
          <a:p>
            <a:pPr algn="l"/>
            <a:r>
              <a:rPr sz="1100" b="0" i="0">
                <a:solidFill>
                  <a:srgbClr val="1A1A2E"/>
                </a:solidFill>
                <a:latin typeface="Courier New"/>
              </a:rPr>
              <a:t>NAVt / NAVt-1 – 1</a:t>
            </a:r>
          </a:p>
        </p:txBody>
      </p:sp>
      <p:sp>
        <p:nvSpPr>
          <p:cNvPr id="34" name="Rounded Rectangle 33"/>
          <p:cNvSpPr/>
          <p:nvPr/>
        </p:nvSpPr>
        <p:spPr>
          <a:xfrm>
            <a:off x="4297680" y="2377439"/>
            <a:ext cx="758952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0" y="2414015"/>
            <a:ext cx="2011680" cy="320040"/>
          </a:xfrm>
          <a:prstGeom prst="rect">
            <a:avLst/>
          </a:prstGeom>
          <a:noFill/>
        </p:spPr>
        <p:txBody>
          <a:bodyPr wrap="square" lIns="0" tIns="0" rIns="0" bIns="0">
            <a:spAutoFit/>
          </a:bodyPr>
          <a:lstStyle/>
          <a:p>
            <a:pPr algn="l"/>
            <a:r>
              <a:rPr sz="1100" b="1" i="0">
                <a:solidFill>
                  <a:srgbClr val="124E8A"/>
                </a:solidFill>
                <a:latin typeface="Calibri"/>
              </a:rPr>
              <a:t>CAGR</a:t>
            </a:r>
          </a:p>
        </p:txBody>
      </p:sp>
      <p:sp>
        <p:nvSpPr>
          <p:cNvPr id="36" name="TextBox 35"/>
          <p:cNvSpPr txBox="1"/>
          <p:nvPr/>
        </p:nvSpPr>
        <p:spPr>
          <a:xfrm>
            <a:off x="6492240" y="2414015"/>
            <a:ext cx="5212080" cy="640080"/>
          </a:xfrm>
          <a:prstGeom prst="rect">
            <a:avLst/>
          </a:prstGeom>
          <a:noFill/>
        </p:spPr>
        <p:txBody>
          <a:bodyPr wrap="square" lIns="0" tIns="0" rIns="0" bIns="0">
            <a:spAutoFit/>
          </a:bodyPr>
          <a:lstStyle/>
          <a:p>
            <a:pPr algn="l"/>
            <a:r>
              <a:rPr sz="1100" b="0" i="0">
                <a:solidFill>
                  <a:srgbClr val="1A1A2E"/>
                </a:solidFill>
                <a:latin typeface="Courier New"/>
              </a:rPr>
              <a:t>(NAV_end/NAV_start)^(252/n) – 1</a:t>
            </a:r>
          </a:p>
        </p:txBody>
      </p:sp>
      <p:sp>
        <p:nvSpPr>
          <p:cNvPr id="37" name="Rounded Rectangle 36"/>
          <p:cNvSpPr/>
          <p:nvPr/>
        </p:nvSpPr>
        <p:spPr>
          <a:xfrm>
            <a:off x="4297680" y="3246120"/>
            <a:ext cx="758952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80560" y="3282696"/>
            <a:ext cx="2011680" cy="320040"/>
          </a:xfrm>
          <a:prstGeom prst="rect">
            <a:avLst/>
          </a:prstGeom>
          <a:noFill/>
        </p:spPr>
        <p:txBody>
          <a:bodyPr wrap="square" lIns="0" tIns="0" rIns="0" bIns="0">
            <a:spAutoFit/>
          </a:bodyPr>
          <a:lstStyle/>
          <a:p>
            <a:pPr algn="l"/>
            <a:r>
              <a:rPr sz="1100" b="1" i="0">
                <a:solidFill>
                  <a:srgbClr val="124E8A"/>
                </a:solidFill>
                <a:latin typeface="Calibri"/>
              </a:rPr>
              <a:t>Sharpe Ratio</a:t>
            </a:r>
          </a:p>
        </p:txBody>
      </p:sp>
      <p:sp>
        <p:nvSpPr>
          <p:cNvPr id="39" name="TextBox 38"/>
          <p:cNvSpPr txBox="1"/>
          <p:nvPr/>
        </p:nvSpPr>
        <p:spPr>
          <a:xfrm>
            <a:off x="6492240" y="3282696"/>
            <a:ext cx="5212080" cy="640080"/>
          </a:xfrm>
          <a:prstGeom prst="rect">
            <a:avLst/>
          </a:prstGeom>
          <a:noFill/>
        </p:spPr>
        <p:txBody>
          <a:bodyPr wrap="square" lIns="0" tIns="0" rIns="0" bIns="0">
            <a:spAutoFit/>
          </a:bodyPr>
          <a:lstStyle/>
          <a:p>
            <a:pPr algn="l"/>
            <a:r>
              <a:rPr sz="1100" b="0" i="0">
                <a:solidFill>
                  <a:srgbClr val="1A1A2E"/>
                </a:solidFill>
                <a:latin typeface="Courier New"/>
              </a:rPr>
              <a:t>(Rp – Rf) / σp × √252</a:t>
            </a:r>
          </a:p>
        </p:txBody>
      </p:sp>
      <p:sp>
        <p:nvSpPr>
          <p:cNvPr id="40" name="Rounded Rectangle 39"/>
          <p:cNvSpPr/>
          <p:nvPr/>
        </p:nvSpPr>
        <p:spPr>
          <a:xfrm>
            <a:off x="4297680" y="4114800"/>
            <a:ext cx="758952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0560" y="4151376"/>
            <a:ext cx="2011680" cy="320040"/>
          </a:xfrm>
          <a:prstGeom prst="rect">
            <a:avLst/>
          </a:prstGeom>
          <a:noFill/>
        </p:spPr>
        <p:txBody>
          <a:bodyPr wrap="square" lIns="0" tIns="0" rIns="0" bIns="0">
            <a:spAutoFit/>
          </a:bodyPr>
          <a:lstStyle/>
          <a:p>
            <a:pPr algn="l"/>
            <a:r>
              <a:rPr sz="1100" b="1" i="0">
                <a:solidFill>
                  <a:srgbClr val="124E8A"/>
                </a:solidFill>
                <a:latin typeface="Calibri"/>
              </a:rPr>
              <a:t>Sortino Ratio</a:t>
            </a:r>
          </a:p>
        </p:txBody>
      </p:sp>
      <p:sp>
        <p:nvSpPr>
          <p:cNvPr id="42" name="TextBox 41"/>
          <p:cNvSpPr txBox="1"/>
          <p:nvPr/>
        </p:nvSpPr>
        <p:spPr>
          <a:xfrm>
            <a:off x="6492240" y="4151376"/>
            <a:ext cx="5212080" cy="640080"/>
          </a:xfrm>
          <a:prstGeom prst="rect">
            <a:avLst/>
          </a:prstGeom>
          <a:noFill/>
        </p:spPr>
        <p:txBody>
          <a:bodyPr wrap="square" lIns="0" tIns="0" rIns="0" bIns="0">
            <a:spAutoFit/>
          </a:bodyPr>
          <a:lstStyle/>
          <a:p>
            <a:pPr algn="l"/>
            <a:r>
              <a:rPr sz="1100" b="0" i="0">
                <a:solidFill>
                  <a:srgbClr val="1A1A2E"/>
                </a:solidFill>
                <a:latin typeface="Courier New"/>
              </a:rPr>
              <a:t>(Rp – Rf) / σ_downside × √252</a:t>
            </a:r>
          </a:p>
        </p:txBody>
      </p:sp>
      <p:sp>
        <p:nvSpPr>
          <p:cNvPr id="43" name="Rounded Rectangle 42"/>
          <p:cNvSpPr/>
          <p:nvPr/>
        </p:nvSpPr>
        <p:spPr>
          <a:xfrm>
            <a:off x="4297680" y="4983479"/>
            <a:ext cx="758952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80560" y="5020055"/>
            <a:ext cx="2011680" cy="320040"/>
          </a:xfrm>
          <a:prstGeom prst="rect">
            <a:avLst/>
          </a:prstGeom>
          <a:noFill/>
        </p:spPr>
        <p:txBody>
          <a:bodyPr wrap="square" lIns="0" tIns="0" rIns="0" bIns="0">
            <a:spAutoFit/>
          </a:bodyPr>
          <a:lstStyle/>
          <a:p>
            <a:pPr algn="l"/>
            <a:r>
              <a:rPr sz="1100" b="1" i="0">
                <a:solidFill>
                  <a:srgbClr val="124E8A"/>
                </a:solidFill>
                <a:latin typeface="Calibri"/>
              </a:rPr>
              <a:t>Max Drawdown</a:t>
            </a:r>
          </a:p>
        </p:txBody>
      </p:sp>
      <p:sp>
        <p:nvSpPr>
          <p:cNvPr id="45" name="TextBox 44"/>
          <p:cNvSpPr txBox="1"/>
          <p:nvPr/>
        </p:nvSpPr>
        <p:spPr>
          <a:xfrm>
            <a:off x="6492240" y="5020055"/>
            <a:ext cx="5212080" cy="640080"/>
          </a:xfrm>
          <a:prstGeom prst="rect">
            <a:avLst/>
          </a:prstGeom>
          <a:noFill/>
        </p:spPr>
        <p:txBody>
          <a:bodyPr wrap="square" lIns="0" tIns="0" rIns="0" bIns="0">
            <a:spAutoFit/>
          </a:bodyPr>
          <a:lstStyle/>
          <a:p>
            <a:pPr algn="l"/>
            <a:r>
              <a:rPr sz="1100" b="0" i="0">
                <a:solidFill>
                  <a:srgbClr val="1A1A2E"/>
                </a:solidFill>
                <a:latin typeface="Courier New"/>
              </a:rPr>
              <a:t>min(NAVt / max(NAV0..t) – 1)</a:t>
            </a:r>
          </a:p>
        </p:txBody>
      </p:sp>
      <p:sp>
        <p:nvSpPr>
          <p:cNvPr id="46" name="Rounded Rectangle 45"/>
          <p:cNvSpPr/>
          <p:nvPr/>
        </p:nvSpPr>
        <p:spPr>
          <a:xfrm>
            <a:off x="4297680" y="5852160"/>
            <a:ext cx="758952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80560" y="5888736"/>
            <a:ext cx="2011680" cy="320040"/>
          </a:xfrm>
          <a:prstGeom prst="rect">
            <a:avLst/>
          </a:prstGeom>
          <a:noFill/>
        </p:spPr>
        <p:txBody>
          <a:bodyPr wrap="square" lIns="0" tIns="0" rIns="0" bIns="0">
            <a:spAutoFit/>
          </a:bodyPr>
          <a:lstStyle/>
          <a:p>
            <a:pPr algn="l"/>
            <a:r>
              <a:rPr sz="1100" b="1" i="0">
                <a:solidFill>
                  <a:srgbClr val="124E8A"/>
                </a:solidFill>
                <a:latin typeface="Calibri"/>
              </a:rPr>
              <a:t>Composite Score</a:t>
            </a:r>
          </a:p>
        </p:txBody>
      </p:sp>
      <p:sp>
        <p:nvSpPr>
          <p:cNvPr id="48" name="TextBox 47"/>
          <p:cNvSpPr txBox="1"/>
          <p:nvPr/>
        </p:nvSpPr>
        <p:spPr>
          <a:xfrm>
            <a:off x="6492240" y="5888736"/>
            <a:ext cx="5212080" cy="640080"/>
          </a:xfrm>
          <a:prstGeom prst="rect">
            <a:avLst/>
          </a:prstGeom>
          <a:noFill/>
        </p:spPr>
        <p:txBody>
          <a:bodyPr wrap="square" lIns="0" tIns="0" rIns="0" bIns="0">
            <a:spAutoFit/>
          </a:bodyPr>
          <a:lstStyle/>
          <a:p>
            <a:pPr algn="l"/>
            <a:r>
              <a:rPr sz="1100" b="0" i="0">
                <a:solidFill>
                  <a:srgbClr val="1A1A2E"/>
                </a:solidFill>
                <a:latin typeface="Courier New"/>
              </a:rPr>
              <a:t>0.30×Return + 0.25×Sharpe + 0.20×Alpha
+0.15×ExpInv + 0.10×DrawdownInv</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Dashboard Overview</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Power BI · 4 Interactive Pages · Live Slicers</a:t>
            </a:r>
          </a:p>
        </p:txBody>
      </p:sp>
      <p:sp>
        <p:nvSpPr>
          <p:cNvPr id="6" name="Rounded Rectangle 5"/>
          <p:cNvSpPr/>
          <p:nvPr/>
        </p:nvSpPr>
        <p:spPr>
          <a:xfrm>
            <a:off x="320040" y="118872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5577840" cy="45720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52728"/>
            <a:ext cx="914400" cy="347472"/>
          </a:xfrm>
          <a:prstGeom prst="rect">
            <a:avLst/>
          </a:prstGeom>
          <a:noFill/>
        </p:spPr>
        <p:txBody>
          <a:bodyPr wrap="square" lIns="0" tIns="0" rIns="0" bIns="0">
            <a:spAutoFit/>
          </a:bodyPr>
          <a:lstStyle/>
          <a:p>
            <a:pPr algn="l"/>
            <a:r>
              <a:rPr sz="1100" b="1" i="0">
                <a:solidFill>
                  <a:srgbClr val="FFFFFF"/>
                </a:solidFill>
                <a:latin typeface="Calibri"/>
              </a:rPr>
              <a:t>Page 1</a:t>
            </a:r>
          </a:p>
        </p:txBody>
      </p:sp>
      <p:sp>
        <p:nvSpPr>
          <p:cNvPr id="9" name="TextBox 8"/>
          <p:cNvSpPr txBox="1"/>
          <p:nvPr/>
        </p:nvSpPr>
        <p:spPr>
          <a:xfrm>
            <a:off x="1325880" y="1252728"/>
            <a:ext cx="4389120" cy="347472"/>
          </a:xfrm>
          <a:prstGeom prst="rect">
            <a:avLst/>
          </a:prstGeom>
          <a:noFill/>
        </p:spPr>
        <p:txBody>
          <a:bodyPr wrap="square" lIns="0" tIns="0" rIns="0" bIns="0">
            <a:spAutoFit/>
          </a:bodyPr>
          <a:lstStyle/>
          <a:p>
            <a:pPr algn="l"/>
            <a:r>
              <a:rPr sz="1300" b="1" i="0">
                <a:solidFill>
                  <a:srgbClr val="FFFFFF"/>
                </a:solidFill>
                <a:latin typeface="Calibri"/>
              </a:rPr>
              <a:t>Industry Overview</a:t>
            </a:r>
          </a:p>
        </p:txBody>
      </p:sp>
      <p:sp>
        <p:nvSpPr>
          <p:cNvPr id="10" name="Rectangle 9"/>
          <p:cNvSpPr/>
          <p:nvPr/>
        </p:nvSpPr>
        <p:spPr>
          <a:xfrm>
            <a:off x="457200" y="1783080"/>
            <a:ext cx="5303520"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59" y="3291840"/>
            <a:ext cx="1005840" cy="137160"/>
          </a:xfrm>
          <a:prstGeom prst="rect">
            <a:avLst/>
          </a:prstGeom>
          <a:solidFill>
            <a:srgbClr val="CC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0" y="3108960"/>
            <a:ext cx="1005840" cy="320040"/>
          </a:xfrm>
          <a:prstGeom prst="rect">
            <a:avLst/>
          </a:prstGeom>
          <a:solidFill>
            <a:srgbClr val="D1D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063240" y="2926080"/>
            <a:ext cx="1005840" cy="502920"/>
          </a:xfrm>
          <a:prstGeom prst="rect">
            <a:avLst/>
          </a:prstGeom>
          <a:solidFill>
            <a:srgbClr val="D6C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97680" y="2743200"/>
            <a:ext cx="1005840" cy="685800"/>
          </a:xfrm>
          <a:prstGeom prst="rect">
            <a:avLst/>
          </a:prstGeom>
          <a:solidFill>
            <a:srgbClr val="DBB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783080"/>
            <a:ext cx="5303520" cy="1664208"/>
          </a:xfrm>
          <a:prstGeom prst="rect">
            <a:avLst/>
          </a:prstGeom>
          <a:noFill/>
        </p:spPr>
        <p:txBody>
          <a:bodyPr wrap="square" lIns="0" tIns="0" rIns="0" bIns="0">
            <a:spAutoFit/>
          </a:bodyPr>
          <a:lstStyle/>
          <a:p>
            <a:pPr algn="l"/>
            <a:r>
              <a:rPr sz="950" b="0" i="0">
                <a:solidFill>
                  <a:srgbClr val="445B7C"/>
                </a:solidFill>
                <a:latin typeface="Calibri"/>
              </a:rPr>
              <a:t>KPI cards: AUM ₹81L Cr, SIP ₹31K Cr, Folios 26.12 Cr
AUM growth line chart · Fund house AUM bar chart
Category allocation donut</a:t>
            </a:r>
          </a:p>
        </p:txBody>
      </p:sp>
      <p:sp>
        <p:nvSpPr>
          <p:cNvPr id="16" name="Rounded Rectangle 15"/>
          <p:cNvSpPr/>
          <p:nvPr/>
        </p:nvSpPr>
        <p:spPr>
          <a:xfrm>
            <a:off x="6217920" y="118872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188720"/>
            <a:ext cx="5577840" cy="4572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1252728"/>
            <a:ext cx="914400" cy="347472"/>
          </a:xfrm>
          <a:prstGeom prst="rect">
            <a:avLst/>
          </a:prstGeom>
          <a:noFill/>
        </p:spPr>
        <p:txBody>
          <a:bodyPr wrap="square" lIns="0" tIns="0" rIns="0" bIns="0">
            <a:spAutoFit/>
          </a:bodyPr>
          <a:lstStyle/>
          <a:p>
            <a:pPr algn="l"/>
            <a:r>
              <a:rPr sz="1100" b="1" i="0">
                <a:solidFill>
                  <a:srgbClr val="FFFFFF"/>
                </a:solidFill>
                <a:latin typeface="Calibri"/>
              </a:rPr>
              <a:t>Page 2</a:t>
            </a:r>
          </a:p>
        </p:txBody>
      </p:sp>
      <p:sp>
        <p:nvSpPr>
          <p:cNvPr id="19" name="TextBox 18"/>
          <p:cNvSpPr txBox="1"/>
          <p:nvPr/>
        </p:nvSpPr>
        <p:spPr>
          <a:xfrm>
            <a:off x="7223760" y="1252728"/>
            <a:ext cx="4389120" cy="347472"/>
          </a:xfrm>
          <a:prstGeom prst="rect">
            <a:avLst/>
          </a:prstGeom>
          <a:noFill/>
        </p:spPr>
        <p:txBody>
          <a:bodyPr wrap="square" lIns="0" tIns="0" rIns="0" bIns="0">
            <a:spAutoFit/>
          </a:bodyPr>
          <a:lstStyle/>
          <a:p>
            <a:pPr algn="l"/>
            <a:r>
              <a:rPr sz="1300" b="1" i="0">
                <a:solidFill>
                  <a:srgbClr val="FFFFFF"/>
                </a:solidFill>
                <a:latin typeface="Calibri"/>
              </a:rPr>
              <a:t>Fund Performance</a:t>
            </a:r>
          </a:p>
        </p:txBody>
      </p:sp>
      <p:sp>
        <p:nvSpPr>
          <p:cNvPr id="20" name="Rectangle 19"/>
          <p:cNvSpPr/>
          <p:nvPr/>
        </p:nvSpPr>
        <p:spPr>
          <a:xfrm>
            <a:off x="6355080" y="1783080"/>
            <a:ext cx="5303520"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92240" y="3291840"/>
            <a:ext cx="1005840" cy="137160"/>
          </a:xfrm>
          <a:prstGeom prst="rect">
            <a:avLst/>
          </a:prstGeom>
          <a:solidFill>
            <a:srgbClr val="CC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726679" y="3108960"/>
            <a:ext cx="1005840" cy="320040"/>
          </a:xfrm>
          <a:prstGeom prst="rect">
            <a:avLst/>
          </a:prstGeom>
          <a:solidFill>
            <a:srgbClr val="D1D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61120" y="2926080"/>
            <a:ext cx="1005840" cy="502920"/>
          </a:xfrm>
          <a:prstGeom prst="rect">
            <a:avLst/>
          </a:prstGeom>
          <a:solidFill>
            <a:srgbClr val="D6C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195560" y="2743200"/>
            <a:ext cx="1005840" cy="685800"/>
          </a:xfrm>
          <a:prstGeom prst="rect">
            <a:avLst/>
          </a:prstGeom>
          <a:solidFill>
            <a:srgbClr val="DBB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1783080"/>
            <a:ext cx="5303520" cy="1664208"/>
          </a:xfrm>
          <a:prstGeom prst="rect">
            <a:avLst/>
          </a:prstGeom>
          <a:noFill/>
        </p:spPr>
        <p:txBody>
          <a:bodyPr wrap="square" lIns="0" tIns="0" rIns="0" bIns="0">
            <a:spAutoFit/>
          </a:bodyPr>
          <a:lstStyle/>
          <a:p>
            <a:pPr algn="l"/>
            <a:r>
              <a:rPr sz="950" b="0" i="0">
                <a:solidFill>
                  <a:srgbClr val="445B7C"/>
                </a:solidFill>
                <a:latin typeface="Calibri"/>
              </a:rPr>
              <a:t>Return vs Risk scatter plot · Sortable scorecard table
NAV vs benchmark line chart
Composite score ranking</a:t>
            </a:r>
          </a:p>
        </p:txBody>
      </p:sp>
      <p:sp>
        <p:nvSpPr>
          <p:cNvPr id="26" name="Rounded Rectangle 25"/>
          <p:cNvSpPr/>
          <p:nvPr/>
        </p:nvSpPr>
        <p:spPr>
          <a:xfrm>
            <a:off x="320040" y="379476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3794760"/>
            <a:ext cx="5577840" cy="457200"/>
          </a:xfrm>
          <a:prstGeom prst="rect">
            <a:avLst/>
          </a:prstGeom>
          <a:solidFill>
            <a:srgbClr val="7B3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3858768"/>
            <a:ext cx="914400" cy="347472"/>
          </a:xfrm>
          <a:prstGeom prst="rect">
            <a:avLst/>
          </a:prstGeom>
          <a:noFill/>
        </p:spPr>
        <p:txBody>
          <a:bodyPr wrap="square" lIns="0" tIns="0" rIns="0" bIns="0">
            <a:spAutoFit/>
          </a:bodyPr>
          <a:lstStyle/>
          <a:p>
            <a:pPr algn="l"/>
            <a:r>
              <a:rPr sz="1100" b="1" i="0">
                <a:solidFill>
                  <a:srgbClr val="FFFFFF"/>
                </a:solidFill>
                <a:latin typeface="Calibri"/>
              </a:rPr>
              <a:t>Page 3</a:t>
            </a:r>
          </a:p>
        </p:txBody>
      </p:sp>
      <p:sp>
        <p:nvSpPr>
          <p:cNvPr id="29" name="TextBox 28"/>
          <p:cNvSpPr txBox="1"/>
          <p:nvPr/>
        </p:nvSpPr>
        <p:spPr>
          <a:xfrm>
            <a:off x="1325880" y="3858768"/>
            <a:ext cx="4389120" cy="347472"/>
          </a:xfrm>
          <a:prstGeom prst="rect">
            <a:avLst/>
          </a:prstGeom>
          <a:noFill/>
        </p:spPr>
        <p:txBody>
          <a:bodyPr wrap="square" lIns="0" tIns="0" rIns="0" bIns="0">
            <a:spAutoFit/>
          </a:bodyPr>
          <a:lstStyle/>
          <a:p>
            <a:pPr algn="l"/>
            <a:r>
              <a:rPr sz="1300" b="1" i="0">
                <a:solidFill>
                  <a:srgbClr val="FFFFFF"/>
                </a:solidFill>
                <a:latin typeface="Calibri"/>
              </a:rPr>
              <a:t>Investor Analytics</a:t>
            </a:r>
          </a:p>
        </p:txBody>
      </p:sp>
      <p:sp>
        <p:nvSpPr>
          <p:cNvPr id="30" name="Rectangle 29"/>
          <p:cNvSpPr/>
          <p:nvPr/>
        </p:nvSpPr>
        <p:spPr>
          <a:xfrm>
            <a:off x="457200" y="4389120"/>
            <a:ext cx="5303520"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94359" y="5897880"/>
            <a:ext cx="1005840" cy="137160"/>
          </a:xfrm>
          <a:prstGeom prst="rect">
            <a:avLst/>
          </a:prstGeom>
          <a:solidFill>
            <a:srgbClr val="CC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28800" y="5715000"/>
            <a:ext cx="1005840" cy="320040"/>
          </a:xfrm>
          <a:prstGeom prst="rect">
            <a:avLst/>
          </a:prstGeom>
          <a:solidFill>
            <a:srgbClr val="D1D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063240" y="5532120"/>
            <a:ext cx="1005840" cy="502920"/>
          </a:xfrm>
          <a:prstGeom prst="rect">
            <a:avLst/>
          </a:prstGeom>
          <a:solidFill>
            <a:srgbClr val="D6C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297680" y="5349240"/>
            <a:ext cx="1005840" cy="685800"/>
          </a:xfrm>
          <a:prstGeom prst="rect">
            <a:avLst/>
          </a:prstGeom>
          <a:solidFill>
            <a:srgbClr val="DBB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4389120"/>
            <a:ext cx="5303520" cy="1664208"/>
          </a:xfrm>
          <a:prstGeom prst="rect">
            <a:avLst/>
          </a:prstGeom>
          <a:noFill/>
        </p:spPr>
        <p:txBody>
          <a:bodyPr wrap="square" lIns="0" tIns="0" rIns="0" bIns="0">
            <a:spAutoFit/>
          </a:bodyPr>
          <a:lstStyle/>
          <a:p>
            <a:pPr algn="l"/>
            <a:r>
              <a:rPr sz="950" b="0" i="0">
                <a:solidFill>
                  <a:srgbClr val="445B7C"/>
                </a:solidFill>
                <a:latin typeface="Calibri"/>
              </a:rPr>
              <a:t>Transaction map by state · SIP/Lumpsum/Redemption donut
Age group vs SIP amount bar · T30 vs B30 analysis
Gender distribution</a:t>
            </a:r>
          </a:p>
        </p:txBody>
      </p:sp>
      <p:sp>
        <p:nvSpPr>
          <p:cNvPr id="36" name="Rounded Rectangle 35"/>
          <p:cNvSpPr/>
          <p:nvPr/>
        </p:nvSpPr>
        <p:spPr>
          <a:xfrm>
            <a:off x="6217920" y="3794760"/>
            <a:ext cx="5577840"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17920" y="3794760"/>
            <a:ext cx="5577840" cy="457200"/>
          </a:xfrm>
          <a:prstGeom prst="rect">
            <a:avLst/>
          </a:prstGeom>
          <a:solidFill>
            <a:srgbClr val="A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3858768"/>
            <a:ext cx="914400" cy="347472"/>
          </a:xfrm>
          <a:prstGeom prst="rect">
            <a:avLst/>
          </a:prstGeom>
          <a:noFill/>
        </p:spPr>
        <p:txBody>
          <a:bodyPr wrap="square" lIns="0" tIns="0" rIns="0" bIns="0">
            <a:spAutoFit/>
          </a:bodyPr>
          <a:lstStyle/>
          <a:p>
            <a:pPr algn="l"/>
            <a:r>
              <a:rPr sz="1100" b="1" i="0">
                <a:solidFill>
                  <a:srgbClr val="FFFFFF"/>
                </a:solidFill>
                <a:latin typeface="Calibri"/>
              </a:rPr>
              <a:t>Page 4</a:t>
            </a:r>
          </a:p>
        </p:txBody>
      </p:sp>
      <p:sp>
        <p:nvSpPr>
          <p:cNvPr id="39" name="TextBox 38"/>
          <p:cNvSpPr txBox="1"/>
          <p:nvPr/>
        </p:nvSpPr>
        <p:spPr>
          <a:xfrm>
            <a:off x="7223760" y="3858768"/>
            <a:ext cx="4389120" cy="347472"/>
          </a:xfrm>
          <a:prstGeom prst="rect">
            <a:avLst/>
          </a:prstGeom>
          <a:noFill/>
        </p:spPr>
        <p:txBody>
          <a:bodyPr wrap="square" lIns="0" tIns="0" rIns="0" bIns="0">
            <a:spAutoFit/>
          </a:bodyPr>
          <a:lstStyle/>
          <a:p>
            <a:pPr algn="l"/>
            <a:r>
              <a:rPr sz="1300" b="1" i="0">
                <a:solidFill>
                  <a:srgbClr val="FFFFFF"/>
                </a:solidFill>
                <a:latin typeface="Calibri"/>
              </a:rPr>
              <a:t>SIP &amp; Market Trends</a:t>
            </a:r>
          </a:p>
        </p:txBody>
      </p:sp>
      <p:sp>
        <p:nvSpPr>
          <p:cNvPr id="40" name="Rectangle 39"/>
          <p:cNvSpPr/>
          <p:nvPr/>
        </p:nvSpPr>
        <p:spPr>
          <a:xfrm>
            <a:off x="6355080" y="4389120"/>
            <a:ext cx="5303520"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492240" y="5897880"/>
            <a:ext cx="1005840" cy="137160"/>
          </a:xfrm>
          <a:prstGeom prst="rect">
            <a:avLst/>
          </a:prstGeom>
          <a:solidFill>
            <a:srgbClr val="CC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726679" y="5715000"/>
            <a:ext cx="1005840" cy="320040"/>
          </a:xfrm>
          <a:prstGeom prst="rect">
            <a:avLst/>
          </a:prstGeom>
          <a:solidFill>
            <a:srgbClr val="D1D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961120" y="5532120"/>
            <a:ext cx="1005840" cy="502920"/>
          </a:xfrm>
          <a:prstGeom prst="rect">
            <a:avLst/>
          </a:prstGeom>
          <a:solidFill>
            <a:srgbClr val="D6C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195560" y="5349240"/>
            <a:ext cx="1005840" cy="685800"/>
          </a:xfrm>
          <a:prstGeom prst="rect">
            <a:avLst/>
          </a:prstGeom>
          <a:solidFill>
            <a:srgbClr val="DBB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55080" y="4389120"/>
            <a:ext cx="5303520" cy="1664208"/>
          </a:xfrm>
          <a:prstGeom prst="rect">
            <a:avLst/>
          </a:prstGeom>
          <a:noFill/>
        </p:spPr>
        <p:txBody>
          <a:bodyPr wrap="square" lIns="0" tIns="0" rIns="0" bIns="0">
            <a:spAutoFit/>
          </a:bodyPr>
          <a:lstStyle/>
          <a:p>
            <a:pPr algn="l"/>
            <a:r>
              <a:rPr sz="950" b="0" i="0">
                <a:solidFill>
                  <a:srgbClr val="445B7C"/>
                </a:solidFill>
                <a:latin typeface="Calibri"/>
              </a:rPr>
              <a:t>Dual-axis: SIP inflow + Nifty 50 line
Category inflow heatmap
Top 5 categories FY25 · Monthly SIP trend</a:t>
            </a:r>
          </a:p>
        </p:txBody>
      </p:sp>
      <p:sp>
        <p:nvSpPr>
          <p:cNvPr id="46" name="Rectangle 45"/>
          <p:cNvSpPr/>
          <p:nvPr/>
        </p:nvSpPr>
        <p:spPr>
          <a:xfrm>
            <a:off x="320040" y="6400800"/>
            <a:ext cx="11548872"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7200" y="6419088"/>
            <a:ext cx="11247120" cy="301752"/>
          </a:xfrm>
          <a:prstGeom prst="rect">
            <a:avLst/>
          </a:prstGeom>
          <a:noFill/>
        </p:spPr>
        <p:txBody>
          <a:bodyPr wrap="square" lIns="0" tIns="0" rIns="0" bIns="0">
            <a:spAutoFit/>
          </a:bodyPr>
          <a:lstStyle/>
          <a:p>
            <a:pPr algn="ctr"/>
            <a:r>
              <a:rPr sz="1100" b="0" i="0">
                <a:solidFill>
                  <a:srgbClr val="009BE8"/>
                </a:solidFill>
                <a:latin typeface="Calibri"/>
              </a:rPr>
              <a:t>All 4 pages include ≥ 2 interactive slicers: Fund House · Category · Date Range · State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Key Visualizations</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Data-Driven Insights from 87,000+ NAV Records</a:t>
            </a:r>
          </a:p>
        </p:txBody>
      </p:sp>
      <p:sp>
        <p:nvSpPr>
          <p:cNvPr id="6" name="Rounded Rectangle 5"/>
          <p:cNvSpPr/>
          <p:nvPr/>
        </p:nvSpPr>
        <p:spPr>
          <a:xfrm>
            <a:off x="320040" y="1188720"/>
            <a:ext cx="557784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5577840" cy="36576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34440"/>
            <a:ext cx="5303520" cy="301752"/>
          </a:xfrm>
          <a:prstGeom prst="rect">
            <a:avLst/>
          </a:prstGeom>
          <a:noFill/>
        </p:spPr>
        <p:txBody>
          <a:bodyPr wrap="square" lIns="0" tIns="0" rIns="0" bIns="0">
            <a:spAutoFit/>
          </a:bodyPr>
          <a:lstStyle/>
          <a:p>
            <a:pPr algn="l"/>
            <a:r>
              <a:rPr sz="1300" b="1" i="0">
                <a:solidFill>
                  <a:srgbClr val="FFFFFF"/>
                </a:solidFill>
                <a:latin typeface="Calibri"/>
              </a:rPr>
              <a:t>CAGR Comparison</a:t>
            </a:r>
          </a:p>
        </p:txBody>
      </p:sp>
      <p:sp>
        <p:nvSpPr>
          <p:cNvPr id="9" name="Rectangle 8"/>
          <p:cNvSpPr/>
          <p:nvPr/>
        </p:nvSpPr>
        <p:spPr>
          <a:xfrm>
            <a:off x="457200" y="1645920"/>
            <a:ext cx="2240280" cy="169164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30552"/>
            <a:ext cx="320040" cy="120700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41832" y="2386584"/>
            <a:ext cx="320040" cy="950976"/>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335024" y="2642616"/>
            <a:ext cx="320040" cy="694944"/>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728216" y="2898648"/>
            <a:ext cx="320040" cy="43891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21408" y="3154680"/>
            <a:ext cx="320040" cy="18288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34640" y="1645920"/>
            <a:ext cx="2926080" cy="1691640"/>
          </a:xfrm>
          <a:prstGeom prst="rect">
            <a:avLst/>
          </a:prstGeom>
          <a:noFill/>
        </p:spPr>
        <p:txBody>
          <a:bodyPr wrap="square" lIns="0" tIns="0" rIns="0" bIns="0">
            <a:spAutoFit/>
          </a:bodyPr>
          <a:lstStyle/>
          <a:p>
            <a:pPr algn="l"/>
            <a:r>
              <a:rPr sz="950" b="0" i="0">
                <a:solidFill>
                  <a:srgbClr val="1A1A2E"/>
                </a:solidFill>
                <a:latin typeface="Calibri"/>
              </a:rPr>
              <a:t>5-yr CAGR bar chart across all 40 fund schemes, ranked descending. Top performers: SBI Small Cap (22.4%), Nippon Small Cap (20.8%), HDFC Midcap (18.6%). Equity funds dominate; debt funds cluster at 6–8%.</a:t>
            </a:r>
          </a:p>
        </p:txBody>
      </p:sp>
      <p:sp>
        <p:nvSpPr>
          <p:cNvPr id="16" name="Rounded Rectangle 15"/>
          <p:cNvSpPr/>
          <p:nvPr/>
        </p:nvSpPr>
        <p:spPr>
          <a:xfrm>
            <a:off x="6217920" y="1188720"/>
            <a:ext cx="557784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188720"/>
            <a:ext cx="5577840" cy="36576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1234440"/>
            <a:ext cx="5303520" cy="301752"/>
          </a:xfrm>
          <a:prstGeom prst="rect">
            <a:avLst/>
          </a:prstGeom>
          <a:noFill/>
        </p:spPr>
        <p:txBody>
          <a:bodyPr wrap="square" lIns="0" tIns="0" rIns="0" bIns="0">
            <a:spAutoFit/>
          </a:bodyPr>
          <a:lstStyle/>
          <a:p>
            <a:pPr algn="l"/>
            <a:r>
              <a:rPr sz="1300" b="1" i="0">
                <a:solidFill>
                  <a:srgbClr val="FFFFFF"/>
                </a:solidFill>
                <a:latin typeface="Calibri"/>
              </a:rPr>
              <a:t>Sharpe Ratio Analysis</a:t>
            </a:r>
          </a:p>
        </p:txBody>
      </p:sp>
      <p:sp>
        <p:nvSpPr>
          <p:cNvPr id="19" name="Rectangle 18"/>
          <p:cNvSpPr/>
          <p:nvPr/>
        </p:nvSpPr>
        <p:spPr>
          <a:xfrm>
            <a:off x="6355080" y="1645920"/>
            <a:ext cx="2240280" cy="169164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46520" y="2130552"/>
            <a:ext cx="320040" cy="120700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39712" y="2386584"/>
            <a:ext cx="320040" cy="950976"/>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232904" y="2642616"/>
            <a:ext cx="320040" cy="694944"/>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26096" y="2898648"/>
            <a:ext cx="320040" cy="43891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19288" y="3154680"/>
            <a:ext cx="320040" cy="18288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32520" y="1645920"/>
            <a:ext cx="2926080" cy="1691640"/>
          </a:xfrm>
          <a:prstGeom prst="rect">
            <a:avLst/>
          </a:prstGeom>
          <a:noFill/>
        </p:spPr>
        <p:txBody>
          <a:bodyPr wrap="square" lIns="0" tIns="0" rIns="0" bIns="0">
            <a:spAutoFit/>
          </a:bodyPr>
          <a:lstStyle/>
          <a:p>
            <a:pPr algn="l"/>
            <a:r>
              <a:rPr sz="950" b="0" i="0">
                <a:solidFill>
                  <a:srgbClr val="1A1A2E"/>
                </a:solidFill>
                <a:latin typeface="Calibri"/>
              </a:rPr>
              <a:t>Bar chart of Sharpe ratios. Balanced Advantage funds show highest risk-adjusted returns (1.29–1.42). High-CAGR small caps have lower Sharpe due to elevated volatility—reinforcing the need for risk-adjusted metrics.</a:t>
            </a:r>
          </a:p>
        </p:txBody>
      </p:sp>
      <p:sp>
        <p:nvSpPr>
          <p:cNvPr id="26" name="Rounded Rectangle 25"/>
          <p:cNvSpPr/>
          <p:nvPr/>
        </p:nvSpPr>
        <p:spPr>
          <a:xfrm>
            <a:off x="320040" y="3794760"/>
            <a:ext cx="557784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3794760"/>
            <a:ext cx="5577840" cy="36576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3840480"/>
            <a:ext cx="5303520" cy="301752"/>
          </a:xfrm>
          <a:prstGeom prst="rect">
            <a:avLst/>
          </a:prstGeom>
          <a:noFill/>
        </p:spPr>
        <p:txBody>
          <a:bodyPr wrap="square" lIns="0" tIns="0" rIns="0" bIns="0">
            <a:spAutoFit/>
          </a:bodyPr>
          <a:lstStyle/>
          <a:p>
            <a:pPr algn="l"/>
            <a:r>
              <a:rPr sz="1300" b="1" i="0">
                <a:solidFill>
                  <a:srgbClr val="FFFFFF"/>
                </a:solidFill>
                <a:latin typeface="Calibri"/>
              </a:rPr>
              <a:t>Risk vs Return Scatter</a:t>
            </a:r>
          </a:p>
        </p:txBody>
      </p:sp>
      <p:sp>
        <p:nvSpPr>
          <p:cNvPr id="29" name="Rectangle 28"/>
          <p:cNvSpPr/>
          <p:nvPr/>
        </p:nvSpPr>
        <p:spPr>
          <a:xfrm>
            <a:off x="457200" y="4251960"/>
            <a:ext cx="2240280" cy="169164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736592"/>
            <a:ext cx="320040" cy="120700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41832" y="4992624"/>
            <a:ext cx="320040" cy="950976"/>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335024" y="5248656"/>
            <a:ext cx="320040" cy="694944"/>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728216" y="5504688"/>
            <a:ext cx="320040" cy="43891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121408" y="5760720"/>
            <a:ext cx="320040" cy="18288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834640" y="4251960"/>
            <a:ext cx="2926080" cy="1691640"/>
          </a:xfrm>
          <a:prstGeom prst="rect">
            <a:avLst/>
          </a:prstGeom>
          <a:noFill/>
        </p:spPr>
        <p:txBody>
          <a:bodyPr wrap="square" lIns="0" tIns="0" rIns="0" bIns="0">
            <a:spAutoFit/>
          </a:bodyPr>
          <a:lstStyle/>
          <a:p>
            <a:pPr algn="l"/>
            <a:r>
              <a:rPr sz="950" b="0" i="0">
                <a:solidFill>
                  <a:srgbClr val="1A1A2E"/>
                </a:solidFill>
                <a:latin typeface="Calibri"/>
              </a:rPr>
              <a:t>Classic efficient frontier scatter: X-axis = annualized volatility, Y-axis = 3yr CAGR. Ideal funds in upper-left quadrant. HDFC Balanced Advantage and ICICI Balanced Advantage clearly dominate peers.</a:t>
            </a:r>
          </a:p>
        </p:txBody>
      </p:sp>
      <p:sp>
        <p:nvSpPr>
          <p:cNvPr id="36" name="Rounded Rectangle 35"/>
          <p:cNvSpPr/>
          <p:nvPr/>
        </p:nvSpPr>
        <p:spPr>
          <a:xfrm>
            <a:off x="6217920" y="3794760"/>
            <a:ext cx="557784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17920" y="3794760"/>
            <a:ext cx="5577840" cy="36576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3840480"/>
            <a:ext cx="5303520" cy="301752"/>
          </a:xfrm>
          <a:prstGeom prst="rect">
            <a:avLst/>
          </a:prstGeom>
          <a:noFill/>
        </p:spPr>
        <p:txBody>
          <a:bodyPr wrap="square" lIns="0" tIns="0" rIns="0" bIns="0">
            <a:spAutoFit/>
          </a:bodyPr>
          <a:lstStyle/>
          <a:p>
            <a:pPr algn="l"/>
            <a:r>
              <a:rPr sz="1300" b="1" i="0">
                <a:solidFill>
                  <a:srgbClr val="FFFFFF"/>
                </a:solidFill>
                <a:latin typeface="Calibri"/>
              </a:rPr>
              <a:t>Fund Scorecard Ranking</a:t>
            </a:r>
          </a:p>
        </p:txBody>
      </p:sp>
      <p:sp>
        <p:nvSpPr>
          <p:cNvPr id="39" name="Rectangle 38"/>
          <p:cNvSpPr/>
          <p:nvPr/>
        </p:nvSpPr>
        <p:spPr>
          <a:xfrm>
            <a:off x="6355080" y="4251960"/>
            <a:ext cx="2240280" cy="169164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46520" y="4736592"/>
            <a:ext cx="320040" cy="1207008"/>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839712" y="4992624"/>
            <a:ext cx="320040" cy="950976"/>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232904" y="5248656"/>
            <a:ext cx="320040" cy="694944"/>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626096" y="5504688"/>
            <a:ext cx="320040" cy="43891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19288" y="5760720"/>
            <a:ext cx="320040" cy="18288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732520" y="4251960"/>
            <a:ext cx="2926080" cy="1691640"/>
          </a:xfrm>
          <a:prstGeom prst="rect">
            <a:avLst/>
          </a:prstGeom>
          <a:noFill/>
        </p:spPr>
        <p:txBody>
          <a:bodyPr wrap="square" lIns="0" tIns="0" rIns="0" bIns="0">
            <a:spAutoFit/>
          </a:bodyPr>
          <a:lstStyle/>
          <a:p>
            <a:pPr algn="l"/>
            <a:r>
              <a:rPr sz="950" b="0" i="0">
                <a:solidFill>
                  <a:srgbClr val="1A1A2E"/>
                </a:solidFill>
                <a:latin typeface="Calibri"/>
              </a:rPr>
              <a:t>Composite score (0–100) heatmap table sorted by overall rank. Weights: 30% return, 25% Sharpe, 20% alpha, 15% expense ratio (inverse), 10% drawdown (inverse). Top-ranked: HDFC Balanced Advantage (Score: 82/100).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Key Findings</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Top Performers · Risk Insights · Investor Takeaways</a:t>
            </a:r>
          </a:p>
        </p:txBody>
      </p:sp>
      <p:sp>
        <p:nvSpPr>
          <p:cNvPr id="6" name="Rounded Rectangle 5"/>
          <p:cNvSpPr/>
          <p:nvPr/>
        </p:nvSpPr>
        <p:spPr>
          <a:xfrm>
            <a:off x="320040" y="1188720"/>
            <a:ext cx="5577840" cy="25146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256032" cy="251460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298448"/>
            <a:ext cx="5029200" cy="411480"/>
          </a:xfrm>
          <a:prstGeom prst="rect">
            <a:avLst/>
          </a:prstGeom>
          <a:noFill/>
        </p:spPr>
        <p:txBody>
          <a:bodyPr wrap="square" lIns="0" tIns="0" rIns="0" bIns="0">
            <a:spAutoFit/>
          </a:bodyPr>
          <a:lstStyle/>
          <a:p>
            <a:pPr algn="l"/>
            <a:r>
              <a:rPr sz="1300" b="1" i="0">
                <a:solidFill>
                  <a:srgbClr val="1A1A2E"/>
                </a:solidFill>
                <a:latin typeface="Calibri"/>
              </a:rPr>
              <a:t>Highest CAGR (5-Year)</a:t>
            </a:r>
          </a:p>
        </p:txBody>
      </p:sp>
      <p:sp>
        <p:nvSpPr>
          <p:cNvPr id="9" name="Oval 8"/>
          <p:cNvSpPr/>
          <p:nvPr/>
        </p:nvSpPr>
        <p:spPr>
          <a:xfrm>
            <a:off x="704088" y="1901952"/>
            <a:ext cx="182880" cy="18288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7" y="1810512"/>
            <a:ext cx="4754880" cy="384048"/>
          </a:xfrm>
          <a:prstGeom prst="rect">
            <a:avLst/>
          </a:prstGeom>
          <a:noFill/>
        </p:spPr>
        <p:txBody>
          <a:bodyPr wrap="square" lIns="0" tIns="0" rIns="0" bIns="0">
            <a:spAutoFit/>
          </a:bodyPr>
          <a:lstStyle/>
          <a:p>
            <a:pPr algn="l"/>
            <a:r>
              <a:rPr sz="1200" b="0" i="0">
                <a:solidFill>
                  <a:srgbClr val="1A1A2E"/>
                </a:solidFill>
                <a:latin typeface="Calibri"/>
              </a:rPr>
              <a:t>SBI Small Cap Fund — 22.4% CAGR</a:t>
            </a:r>
          </a:p>
        </p:txBody>
      </p:sp>
      <p:sp>
        <p:nvSpPr>
          <p:cNvPr id="11" name="Oval 10"/>
          <p:cNvSpPr/>
          <p:nvPr/>
        </p:nvSpPr>
        <p:spPr>
          <a:xfrm>
            <a:off x="704088" y="2340864"/>
            <a:ext cx="182880" cy="18288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7" y="2249424"/>
            <a:ext cx="4754880" cy="384048"/>
          </a:xfrm>
          <a:prstGeom prst="rect">
            <a:avLst/>
          </a:prstGeom>
          <a:noFill/>
        </p:spPr>
        <p:txBody>
          <a:bodyPr wrap="square" lIns="0" tIns="0" rIns="0" bIns="0">
            <a:spAutoFit/>
          </a:bodyPr>
          <a:lstStyle/>
          <a:p>
            <a:pPr algn="l"/>
            <a:r>
              <a:rPr sz="1200" b="0" i="0">
                <a:solidFill>
                  <a:srgbClr val="1A1A2E"/>
                </a:solidFill>
                <a:latin typeface="Calibri"/>
              </a:rPr>
              <a:t>Nippon India Small Cap — 20.8% CAGR</a:t>
            </a:r>
          </a:p>
        </p:txBody>
      </p:sp>
      <p:sp>
        <p:nvSpPr>
          <p:cNvPr id="13" name="Oval 12"/>
          <p:cNvSpPr/>
          <p:nvPr/>
        </p:nvSpPr>
        <p:spPr>
          <a:xfrm>
            <a:off x="704088" y="2779776"/>
            <a:ext cx="182880" cy="18288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7" y="2688336"/>
            <a:ext cx="4754880" cy="384048"/>
          </a:xfrm>
          <a:prstGeom prst="rect">
            <a:avLst/>
          </a:prstGeom>
          <a:noFill/>
        </p:spPr>
        <p:txBody>
          <a:bodyPr wrap="square" lIns="0" tIns="0" rIns="0" bIns="0">
            <a:spAutoFit/>
          </a:bodyPr>
          <a:lstStyle/>
          <a:p>
            <a:pPr algn="l"/>
            <a:r>
              <a:rPr sz="1200" b="0" i="0">
                <a:solidFill>
                  <a:srgbClr val="1A1A2E"/>
                </a:solidFill>
                <a:latin typeface="Calibri"/>
              </a:rPr>
              <a:t>HDFC Mid-Cap Opportunities — 18.6% CAGR</a:t>
            </a:r>
          </a:p>
        </p:txBody>
      </p:sp>
      <p:sp>
        <p:nvSpPr>
          <p:cNvPr id="15" name="Oval 14"/>
          <p:cNvSpPr/>
          <p:nvPr/>
        </p:nvSpPr>
        <p:spPr>
          <a:xfrm>
            <a:off x="704088" y="3218688"/>
            <a:ext cx="182880" cy="18288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7" y="3127248"/>
            <a:ext cx="4754880" cy="384048"/>
          </a:xfrm>
          <a:prstGeom prst="rect">
            <a:avLst/>
          </a:prstGeom>
          <a:noFill/>
        </p:spPr>
        <p:txBody>
          <a:bodyPr wrap="square" lIns="0" tIns="0" rIns="0" bIns="0">
            <a:spAutoFit/>
          </a:bodyPr>
          <a:lstStyle/>
          <a:p>
            <a:pPr algn="l"/>
            <a:r>
              <a:rPr sz="1200" b="0" i="0">
                <a:solidFill>
                  <a:srgbClr val="1A1A2E"/>
                </a:solidFill>
                <a:latin typeface="Calibri"/>
              </a:rPr>
              <a:t>Small/mid-cap equity dominates long-term returns</a:t>
            </a:r>
          </a:p>
        </p:txBody>
      </p:sp>
      <p:sp>
        <p:nvSpPr>
          <p:cNvPr id="17" name="Rounded Rectangle 16"/>
          <p:cNvSpPr/>
          <p:nvPr/>
        </p:nvSpPr>
        <p:spPr>
          <a:xfrm>
            <a:off x="6217920" y="1188720"/>
            <a:ext cx="5577840" cy="25146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188720"/>
            <a:ext cx="256032" cy="25146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01968" y="1298448"/>
            <a:ext cx="5029200" cy="411480"/>
          </a:xfrm>
          <a:prstGeom prst="rect">
            <a:avLst/>
          </a:prstGeom>
          <a:noFill/>
        </p:spPr>
        <p:txBody>
          <a:bodyPr wrap="square" lIns="0" tIns="0" rIns="0" bIns="0">
            <a:spAutoFit/>
          </a:bodyPr>
          <a:lstStyle/>
          <a:p>
            <a:pPr algn="l"/>
            <a:r>
              <a:rPr sz="1300" b="1" i="0">
                <a:solidFill>
                  <a:srgbClr val="1A1A2E"/>
                </a:solidFill>
                <a:latin typeface="Calibri"/>
              </a:rPr>
              <a:t>Best Risk-Adjusted (Sharpe)</a:t>
            </a:r>
          </a:p>
        </p:txBody>
      </p:sp>
      <p:sp>
        <p:nvSpPr>
          <p:cNvPr id="20" name="Oval 19"/>
          <p:cNvSpPr/>
          <p:nvPr/>
        </p:nvSpPr>
        <p:spPr>
          <a:xfrm>
            <a:off x="6601968" y="1901952"/>
            <a:ext cx="182880" cy="18288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76288" y="1810512"/>
            <a:ext cx="4754880" cy="384048"/>
          </a:xfrm>
          <a:prstGeom prst="rect">
            <a:avLst/>
          </a:prstGeom>
          <a:noFill/>
        </p:spPr>
        <p:txBody>
          <a:bodyPr wrap="square" lIns="0" tIns="0" rIns="0" bIns="0">
            <a:spAutoFit/>
          </a:bodyPr>
          <a:lstStyle/>
          <a:p>
            <a:pPr algn="l"/>
            <a:r>
              <a:rPr sz="1200" b="0" i="0">
                <a:solidFill>
                  <a:srgbClr val="1A1A2E"/>
                </a:solidFill>
                <a:latin typeface="Calibri"/>
              </a:rPr>
              <a:t>HDFC Balanced Advantage — Sharpe 1.42</a:t>
            </a:r>
          </a:p>
        </p:txBody>
      </p:sp>
      <p:sp>
        <p:nvSpPr>
          <p:cNvPr id="22" name="Oval 21"/>
          <p:cNvSpPr/>
          <p:nvPr/>
        </p:nvSpPr>
        <p:spPr>
          <a:xfrm>
            <a:off x="6601968" y="2340864"/>
            <a:ext cx="182880" cy="18288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76288" y="2249424"/>
            <a:ext cx="4754880" cy="384048"/>
          </a:xfrm>
          <a:prstGeom prst="rect">
            <a:avLst/>
          </a:prstGeom>
          <a:noFill/>
        </p:spPr>
        <p:txBody>
          <a:bodyPr wrap="square" lIns="0" tIns="0" rIns="0" bIns="0">
            <a:spAutoFit/>
          </a:bodyPr>
          <a:lstStyle/>
          <a:p>
            <a:pPr algn="l"/>
            <a:r>
              <a:rPr sz="1200" b="0" i="0">
                <a:solidFill>
                  <a:srgbClr val="1A1A2E"/>
                </a:solidFill>
                <a:latin typeface="Calibri"/>
              </a:rPr>
              <a:t>ICICI Pru Balanced Advantage — Sharpe 1.38</a:t>
            </a:r>
          </a:p>
        </p:txBody>
      </p:sp>
      <p:sp>
        <p:nvSpPr>
          <p:cNvPr id="24" name="Oval 23"/>
          <p:cNvSpPr/>
          <p:nvPr/>
        </p:nvSpPr>
        <p:spPr>
          <a:xfrm>
            <a:off x="6601968" y="2779776"/>
            <a:ext cx="182880" cy="18288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76288" y="2688336"/>
            <a:ext cx="4754880" cy="384048"/>
          </a:xfrm>
          <a:prstGeom prst="rect">
            <a:avLst/>
          </a:prstGeom>
          <a:noFill/>
        </p:spPr>
        <p:txBody>
          <a:bodyPr wrap="square" lIns="0" tIns="0" rIns="0" bIns="0">
            <a:spAutoFit/>
          </a:bodyPr>
          <a:lstStyle/>
          <a:p>
            <a:pPr algn="l"/>
            <a:r>
              <a:rPr sz="1200" b="0" i="0">
                <a:solidFill>
                  <a:srgbClr val="1A1A2E"/>
                </a:solidFill>
                <a:latin typeface="Calibri"/>
              </a:rPr>
              <a:t>SBI Equity Hybrid Fund — Sharpe 1.29</a:t>
            </a:r>
          </a:p>
        </p:txBody>
      </p:sp>
      <p:sp>
        <p:nvSpPr>
          <p:cNvPr id="26" name="Oval 25"/>
          <p:cNvSpPr/>
          <p:nvPr/>
        </p:nvSpPr>
        <p:spPr>
          <a:xfrm>
            <a:off x="6601968" y="3218688"/>
            <a:ext cx="182880" cy="18288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76288" y="3127248"/>
            <a:ext cx="4754880" cy="384048"/>
          </a:xfrm>
          <a:prstGeom prst="rect">
            <a:avLst/>
          </a:prstGeom>
          <a:noFill/>
        </p:spPr>
        <p:txBody>
          <a:bodyPr wrap="square" lIns="0" tIns="0" rIns="0" bIns="0">
            <a:spAutoFit/>
          </a:bodyPr>
          <a:lstStyle/>
          <a:p>
            <a:pPr algn="l"/>
            <a:r>
              <a:rPr sz="1200" b="0" i="0">
                <a:solidFill>
                  <a:srgbClr val="1A1A2E"/>
                </a:solidFill>
                <a:latin typeface="Calibri"/>
              </a:rPr>
              <a:t>Hybrid funds outperform on risk-adjusted basis</a:t>
            </a:r>
          </a:p>
        </p:txBody>
      </p:sp>
      <p:sp>
        <p:nvSpPr>
          <p:cNvPr id="28" name="Rounded Rectangle 27"/>
          <p:cNvSpPr/>
          <p:nvPr/>
        </p:nvSpPr>
        <p:spPr>
          <a:xfrm>
            <a:off x="320040" y="3840480"/>
            <a:ext cx="5577840" cy="25146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3840480"/>
            <a:ext cx="256032" cy="2514600"/>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04088" y="3950208"/>
            <a:ext cx="5029200" cy="411480"/>
          </a:xfrm>
          <a:prstGeom prst="rect">
            <a:avLst/>
          </a:prstGeom>
          <a:noFill/>
        </p:spPr>
        <p:txBody>
          <a:bodyPr wrap="square" lIns="0" tIns="0" rIns="0" bIns="0">
            <a:spAutoFit/>
          </a:bodyPr>
          <a:lstStyle/>
          <a:p>
            <a:pPr algn="l"/>
            <a:r>
              <a:rPr sz="1300" b="1" i="0">
                <a:solidFill>
                  <a:srgbClr val="1A1A2E"/>
                </a:solidFill>
                <a:latin typeface="Calibri"/>
              </a:rPr>
              <a:t>Composite Scorecard Winners</a:t>
            </a:r>
          </a:p>
        </p:txBody>
      </p:sp>
      <p:sp>
        <p:nvSpPr>
          <p:cNvPr id="31" name="Oval 30"/>
          <p:cNvSpPr/>
          <p:nvPr/>
        </p:nvSpPr>
        <p:spPr>
          <a:xfrm>
            <a:off x="704088" y="4553712"/>
            <a:ext cx="182880" cy="18288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7" y="4462272"/>
            <a:ext cx="4754880" cy="384048"/>
          </a:xfrm>
          <a:prstGeom prst="rect">
            <a:avLst/>
          </a:prstGeom>
          <a:noFill/>
        </p:spPr>
        <p:txBody>
          <a:bodyPr wrap="square" lIns="0" tIns="0" rIns="0" bIns="0">
            <a:spAutoFit/>
          </a:bodyPr>
          <a:lstStyle/>
          <a:p>
            <a:pPr algn="l"/>
            <a:r>
              <a:rPr sz="1200" b="0" i="0">
                <a:solidFill>
                  <a:srgbClr val="1A1A2E"/>
                </a:solidFill>
                <a:latin typeface="Calibri"/>
              </a:rPr>
              <a:t>HDFC Balanced Advantage Fund — Score 82/100</a:t>
            </a:r>
          </a:p>
        </p:txBody>
      </p:sp>
      <p:sp>
        <p:nvSpPr>
          <p:cNvPr id="33" name="Oval 32"/>
          <p:cNvSpPr/>
          <p:nvPr/>
        </p:nvSpPr>
        <p:spPr>
          <a:xfrm>
            <a:off x="704088" y="4992623"/>
            <a:ext cx="182880" cy="18288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8407" y="4901183"/>
            <a:ext cx="4754880" cy="384048"/>
          </a:xfrm>
          <a:prstGeom prst="rect">
            <a:avLst/>
          </a:prstGeom>
          <a:noFill/>
        </p:spPr>
        <p:txBody>
          <a:bodyPr wrap="square" lIns="0" tIns="0" rIns="0" bIns="0">
            <a:spAutoFit/>
          </a:bodyPr>
          <a:lstStyle/>
          <a:p>
            <a:pPr algn="l"/>
            <a:r>
              <a:rPr sz="1200" b="0" i="0">
                <a:solidFill>
                  <a:srgbClr val="1A1A2E"/>
                </a:solidFill>
                <a:latin typeface="Calibri"/>
              </a:rPr>
              <a:t>ICICI Pru Balanced Advantage — Score 79/100</a:t>
            </a:r>
          </a:p>
        </p:txBody>
      </p:sp>
      <p:sp>
        <p:nvSpPr>
          <p:cNvPr id="35" name="Oval 34"/>
          <p:cNvSpPr/>
          <p:nvPr/>
        </p:nvSpPr>
        <p:spPr>
          <a:xfrm>
            <a:off x="704088" y="5431536"/>
            <a:ext cx="182880" cy="18288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78407" y="5340096"/>
            <a:ext cx="4754880" cy="384048"/>
          </a:xfrm>
          <a:prstGeom prst="rect">
            <a:avLst/>
          </a:prstGeom>
          <a:noFill/>
        </p:spPr>
        <p:txBody>
          <a:bodyPr wrap="square" lIns="0" tIns="0" rIns="0" bIns="0">
            <a:spAutoFit/>
          </a:bodyPr>
          <a:lstStyle/>
          <a:p>
            <a:pPr algn="l"/>
            <a:r>
              <a:rPr sz="1200" b="0" i="0">
                <a:solidFill>
                  <a:srgbClr val="1A1A2E"/>
                </a:solidFill>
                <a:latin typeface="Calibri"/>
              </a:rPr>
              <a:t>SBI Bluechip Fund (Large Cap) — Score 74/100</a:t>
            </a:r>
          </a:p>
        </p:txBody>
      </p:sp>
      <p:sp>
        <p:nvSpPr>
          <p:cNvPr id="37" name="Oval 36"/>
          <p:cNvSpPr/>
          <p:nvPr/>
        </p:nvSpPr>
        <p:spPr>
          <a:xfrm>
            <a:off x="704088" y="5870448"/>
            <a:ext cx="182880" cy="18288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78407" y="5779008"/>
            <a:ext cx="4754880" cy="384048"/>
          </a:xfrm>
          <a:prstGeom prst="rect">
            <a:avLst/>
          </a:prstGeom>
          <a:noFill/>
        </p:spPr>
        <p:txBody>
          <a:bodyPr wrap="square" lIns="0" tIns="0" rIns="0" bIns="0">
            <a:spAutoFit/>
          </a:bodyPr>
          <a:lstStyle/>
          <a:p>
            <a:pPr algn="l"/>
            <a:r>
              <a:rPr sz="1200" b="0" i="0">
                <a:solidFill>
                  <a:srgbClr val="1A1A2E"/>
                </a:solidFill>
                <a:latin typeface="Calibri"/>
              </a:rPr>
              <a:t>Consistent performance across all 5 metrics</a:t>
            </a:r>
          </a:p>
        </p:txBody>
      </p:sp>
      <p:sp>
        <p:nvSpPr>
          <p:cNvPr id="39" name="Rounded Rectangle 38"/>
          <p:cNvSpPr/>
          <p:nvPr/>
        </p:nvSpPr>
        <p:spPr>
          <a:xfrm>
            <a:off x="6217920" y="3840480"/>
            <a:ext cx="5577840" cy="251460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17920" y="3840480"/>
            <a:ext cx="256032" cy="251460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01968" y="3950208"/>
            <a:ext cx="5029200" cy="411480"/>
          </a:xfrm>
          <a:prstGeom prst="rect">
            <a:avLst/>
          </a:prstGeom>
          <a:noFill/>
        </p:spPr>
        <p:txBody>
          <a:bodyPr wrap="square" lIns="0" tIns="0" rIns="0" bIns="0">
            <a:spAutoFit/>
          </a:bodyPr>
          <a:lstStyle/>
          <a:p>
            <a:pPr algn="l"/>
            <a:r>
              <a:rPr sz="1300" b="1" i="0">
                <a:solidFill>
                  <a:srgbClr val="1A1A2E"/>
                </a:solidFill>
                <a:latin typeface="Calibri"/>
              </a:rPr>
              <a:t>Key Investor Insights</a:t>
            </a:r>
          </a:p>
        </p:txBody>
      </p:sp>
      <p:sp>
        <p:nvSpPr>
          <p:cNvPr id="42" name="Oval 41"/>
          <p:cNvSpPr/>
          <p:nvPr/>
        </p:nvSpPr>
        <p:spPr>
          <a:xfrm>
            <a:off x="6601968" y="4553712"/>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76288" y="4462272"/>
            <a:ext cx="4754880" cy="384048"/>
          </a:xfrm>
          <a:prstGeom prst="rect">
            <a:avLst/>
          </a:prstGeom>
          <a:noFill/>
        </p:spPr>
        <p:txBody>
          <a:bodyPr wrap="square" lIns="0" tIns="0" rIns="0" bIns="0">
            <a:spAutoFit/>
          </a:bodyPr>
          <a:lstStyle/>
          <a:p>
            <a:pPr algn="l"/>
            <a:r>
              <a:rPr sz="1200" b="0" i="0">
                <a:solidFill>
                  <a:srgbClr val="1A1A2E"/>
                </a:solidFill>
                <a:latin typeface="Calibri"/>
              </a:rPr>
              <a:t>High CAGR ≠ High Sharpe: risk context matters</a:t>
            </a:r>
          </a:p>
        </p:txBody>
      </p:sp>
      <p:sp>
        <p:nvSpPr>
          <p:cNvPr id="44" name="Oval 43"/>
          <p:cNvSpPr/>
          <p:nvPr/>
        </p:nvSpPr>
        <p:spPr>
          <a:xfrm>
            <a:off x="6601968" y="4992623"/>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76288" y="4901183"/>
            <a:ext cx="4754880" cy="384048"/>
          </a:xfrm>
          <a:prstGeom prst="rect">
            <a:avLst/>
          </a:prstGeom>
          <a:noFill/>
        </p:spPr>
        <p:txBody>
          <a:bodyPr wrap="square" lIns="0" tIns="0" rIns="0" bIns="0">
            <a:spAutoFit/>
          </a:bodyPr>
          <a:lstStyle/>
          <a:p>
            <a:pPr algn="l"/>
            <a:r>
              <a:rPr sz="1200" b="0" i="0">
                <a:solidFill>
                  <a:srgbClr val="1A1A2E"/>
                </a:solidFill>
                <a:latin typeface="Calibri"/>
              </a:rPr>
              <a:t>Max Drawdown: small caps fell 40%+ in 2022</a:t>
            </a:r>
          </a:p>
        </p:txBody>
      </p:sp>
      <p:sp>
        <p:nvSpPr>
          <p:cNvPr id="46" name="Oval 45"/>
          <p:cNvSpPr/>
          <p:nvPr/>
        </p:nvSpPr>
        <p:spPr>
          <a:xfrm>
            <a:off x="6601968" y="5431536"/>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76288" y="5340096"/>
            <a:ext cx="4754880" cy="384048"/>
          </a:xfrm>
          <a:prstGeom prst="rect">
            <a:avLst/>
          </a:prstGeom>
          <a:noFill/>
        </p:spPr>
        <p:txBody>
          <a:bodyPr wrap="square" lIns="0" tIns="0" rIns="0" bIns="0">
            <a:spAutoFit/>
          </a:bodyPr>
          <a:lstStyle/>
          <a:p>
            <a:pPr algn="l"/>
            <a:r>
              <a:rPr sz="1200" b="0" i="0">
                <a:solidFill>
                  <a:srgbClr val="1A1A2E"/>
                </a:solidFill>
                <a:latin typeface="Calibri"/>
              </a:rPr>
              <a:t>SIP continuity improved 3yr returns by ~3.2%</a:t>
            </a:r>
          </a:p>
        </p:txBody>
      </p:sp>
      <p:sp>
        <p:nvSpPr>
          <p:cNvPr id="48" name="Oval 47"/>
          <p:cNvSpPr/>
          <p:nvPr/>
        </p:nvSpPr>
        <p:spPr>
          <a:xfrm>
            <a:off x="6601968" y="5870448"/>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76288" y="5779008"/>
            <a:ext cx="4754880" cy="384048"/>
          </a:xfrm>
          <a:prstGeom prst="rect">
            <a:avLst/>
          </a:prstGeom>
          <a:noFill/>
        </p:spPr>
        <p:txBody>
          <a:bodyPr wrap="square" lIns="0" tIns="0" rIns="0" bIns="0">
            <a:spAutoFit/>
          </a:bodyPr>
          <a:lstStyle/>
          <a:p>
            <a:pPr algn="l"/>
            <a:r>
              <a:rPr sz="1200" b="0" i="0">
                <a:solidFill>
                  <a:srgbClr val="1A1A2E"/>
                </a:solidFill>
                <a:latin typeface="Calibri"/>
              </a:rPr>
              <a:t>T30 cities drive 78% of SIP volume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Business Impact</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Quantified Value Delivered to Investors &amp; Bluestock Fintech</a:t>
            </a:r>
          </a:p>
        </p:txBody>
      </p:sp>
      <p:sp>
        <p:nvSpPr>
          <p:cNvPr id="6" name="Rounded Rectangle 5"/>
          <p:cNvSpPr/>
          <p:nvPr/>
        </p:nvSpPr>
        <p:spPr>
          <a:xfrm>
            <a:off x="320040" y="1234440"/>
            <a:ext cx="3749039"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36755" y="1321308"/>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399032"/>
            <a:ext cx="3108960" cy="548640"/>
          </a:xfrm>
          <a:prstGeom prst="rect">
            <a:avLst/>
          </a:prstGeom>
          <a:noFill/>
        </p:spPr>
        <p:txBody>
          <a:bodyPr wrap="square" lIns="0" tIns="0" rIns="0" bIns="0">
            <a:spAutoFit/>
          </a:bodyPr>
          <a:lstStyle/>
          <a:p>
            <a:pPr algn="l"/>
            <a:r>
              <a:rPr sz="2800" b="1" i="0">
                <a:solidFill>
                  <a:srgbClr val="124E8A"/>
                </a:solidFill>
                <a:latin typeface="Cambria"/>
              </a:rPr>
              <a:t>10x</a:t>
            </a:r>
          </a:p>
        </p:txBody>
      </p:sp>
      <p:sp>
        <p:nvSpPr>
          <p:cNvPr id="9" name="TextBox 8"/>
          <p:cNvSpPr txBox="1"/>
          <p:nvPr/>
        </p:nvSpPr>
        <p:spPr>
          <a:xfrm>
            <a:off x="502920" y="1984248"/>
            <a:ext cx="3383280" cy="384048"/>
          </a:xfrm>
          <a:prstGeom prst="rect">
            <a:avLst/>
          </a:prstGeom>
          <a:noFill/>
        </p:spPr>
        <p:txBody>
          <a:bodyPr wrap="square" lIns="0" tIns="0" rIns="0" bIns="0">
            <a:spAutoFit/>
          </a:bodyPr>
          <a:lstStyle/>
          <a:p>
            <a:pPr algn="l"/>
            <a:r>
              <a:rPr sz="1300" b="1" i="0">
                <a:solidFill>
                  <a:srgbClr val="1A1A2E"/>
                </a:solidFill>
                <a:latin typeface="Calibri"/>
              </a:rPr>
              <a:t>Faster Decision Making</a:t>
            </a:r>
          </a:p>
        </p:txBody>
      </p:sp>
      <p:sp>
        <p:nvSpPr>
          <p:cNvPr id="10" name="TextBox 9"/>
          <p:cNvSpPr txBox="1"/>
          <p:nvPr/>
        </p:nvSpPr>
        <p:spPr>
          <a:xfrm>
            <a:off x="502920" y="2404872"/>
            <a:ext cx="3383280" cy="1005840"/>
          </a:xfrm>
          <a:prstGeom prst="rect">
            <a:avLst/>
          </a:prstGeom>
          <a:noFill/>
        </p:spPr>
        <p:txBody>
          <a:bodyPr wrap="square" lIns="0" tIns="0" rIns="0" bIns="0">
            <a:spAutoFit/>
          </a:bodyPr>
          <a:lstStyle/>
          <a:p>
            <a:pPr algn="l"/>
            <a:r>
              <a:rPr sz="1100" b="0" i="0">
                <a:solidFill>
                  <a:srgbClr val="445B7C"/>
                </a:solidFill>
                <a:latin typeface="Calibri"/>
              </a:rPr>
              <a:t>Fund analysis reduced from days to minutes. Power BI slicers and scorecard table give instant ranked results.</a:t>
            </a:r>
          </a:p>
        </p:txBody>
      </p:sp>
      <p:sp>
        <p:nvSpPr>
          <p:cNvPr id="11" name="Rounded Rectangle 10"/>
          <p:cNvSpPr/>
          <p:nvPr/>
        </p:nvSpPr>
        <p:spPr>
          <a:xfrm>
            <a:off x="4251959" y="1234440"/>
            <a:ext cx="3749039"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247385" y="1325880"/>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79" y="1399032"/>
            <a:ext cx="3108960" cy="548640"/>
          </a:xfrm>
          <a:prstGeom prst="rect">
            <a:avLst/>
          </a:prstGeom>
          <a:noFill/>
        </p:spPr>
        <p:txBody>
          <a:bodyPr wrap="square" lIns="0" tIns="0" rIns="0" bIns="0">
            <a:spAutoFit/>
          </a:bodyPr>
          <a:lstStyle/>
          <a:p>
            <a:pPr algn="l"/>
            <a:r>
              <a:rPr sz="2800" b="1" i="0">
                <a:solidFill>
                  <a:srgbClr val="124E8A"/>
                </a:solidFill>
                <a:latin typeface="Cambria"/>
              </a:rPr>
              <a:t>40+</a:t>
            </a:r>
          </a:p>
        </p:txBody>
      </p:sp>
      <p:sp>
        <p:nvSpPr>
          <p:cNvPr id="14" name="TextBox 13"/>
          <p:cNvSpPr txBox="1"/>
          <p:nvPr/>
        </p:nvSpPr>
        <p:spPr>
          <a:xfrm>
            <a:off x="4434840" y="1984248"/>
            <a:ext cx="3383280" cy="384048"/>
          </a:xfrm>
          <a:prstGeom prst="rect">
            <a:avLst/>
          </a:prstGeom>
          <a:noFill/>
        </p:spPr>
        <p:txBody>
          <a:bodyPr wrap="square" lIns="0" tIns="0" rIns="0" bIns="0">
            <a:spAutoFit/>
          </a:bodyPr>
          <a:lstStyle/>
          <a:p>
            <a:pPr algn="l"/>
            <a:r>
              <a:rPr sz="1300" b="1" i="0">
                <a:solidFill>
                  <a:srgbClr val="1A1A2E"/>
                </a:solidFill>
                <a:latin typeface="Calibri"/>
              </a:rPr>
              <a:t>Funds Compared</a:t>
            </a:r>
          </a:p>
        </p:txBody>
      </p:sp>
      <p:sp>
        <p:nvSpPr>
          <p:cNvPr id="15" name="TextBox 14"/>
          <p:cNvSpPr txBox="1"/>
          <p:nvPr/>
        </p:nvSpPr>
        <p:spPr>
          <a:xfrm>
            <a:off x="4434840" y="2404872"/>
            <a:ext cx="3383280" cy="1005840"/>
          </a:xfrm>
          <a:prstGeom prst="rect">
            <a:avLst/>
          </a:prstGeom>
          <a:noFill/>
        </p:spPr>
        <p:txBody>
          <a:bodyPr wrap="square" lIns="0" tIns="0" rIns="0" bIns="0">
            <a:spAutoFit/>
          </a:bodyPr>
          <a:lstStyle/>
          <a:p>
            <a:pPr algn="l"/>
            <a:r>
              <a:rPr sz="1100" b="0" i="0" dirty="0">
                <a:solidFill>
                  <a:srgbClr val="445B7C"/>
                </a:solidFill>
                <a:latin typeface="Calibri"/>
              </a:rPr>
              <a:t>40 schemes analyzed simultaneously — impossible with manual spreadsheets. Full cross-fund metric comparison in one view.</a:t>
            </a:r>
          </a:p>
        </p:txBody>
      </p:sp>
      <p:sp>
        <p:nvSpPr>
          <p:cNvPr id="16" name="Rounded Rectangle 15"/>
          <p:cNvSpPr/>
          <p:nvPr/>
        </p:nvSpPr>
        <p:spPr>
          <a:xfrm>
            <a:off x="8183879" y="1234440"/>
            <a:ext cx="3749039"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179306" y="1332370"/>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0" y="1399032"/>
            <a:ext cx="3108960" cy="548640"/>
          </a:xfrm>
          <a:prstGeom prst="rect">
            <a:avLst/>
          </a:prstGeom>
          <a:noFill/>
        </p:spPr>
        <p:txBody>
          <a:bodyPr wrap="square" lIns="0" tIns="0" rIns="0" bIns="0">
            <a:spAutoFit/>
          </a:bodyPr>
          <a:lstStyle/>
          <a:p>
            <a:pPr algn="l"/>
            <a:r>
              <a:rPr sz="2800" b="1" i="0">
                <a:solidFill>
                  <a:srgbClr val="124E8A"/>
                </a:solidFill>
                <a:latin typeface="Cambria"/>
              </a:rPr>
              <a:t>9+</a:t>
            </a:r>
          </a:p>
        </p:txBody>
      </p:sp>
      <p:sp>
        <p:nvSpPr>
          <p:cNvPr id="19" name="TextBox 18"/>
          <p:cNvSpPr txBox="1"/>
          <p:nvPr/>
        </p:nvSpPr>
        <p:spPr>
          <a:xfrm>
            <a:off x="8366759" y="1984248"/>
            <a:ext cx="3383280" cy="384048"/>
          </a:xfrm>
          <a:prstGeom prst="rect">
            <a:avLst/>
          </a:prstGeom>
          <a:noFill/>
        </p:spPr>
        <p:txBody>
          <a:bodyPr wrap="square" lIns="0" tIns="0" rIns="0" bIns="0">
            <a:spAutoFit/>
          </a:bodyPr>
          <a:lstStyle/>
          <a:p>
            <a:pPr algn="l"/>
            <a:r>
              <a:rPr sz="1300" b="1" i="0">
                <a:solidFill>
                  <a:srgbClr val="1A1A2E"/>
                </a:solidFill>
                <a:latin typeface="Calibri"/>
              </a:rPr>
              <a:t>Metrics Computed</a:t>
            </a:r>
          </a:p>
        </p:txBody>
      </p:sp>
      <p:sp>
        <p:nvSpPr>
          <p:cNvPr id="20" name="TextBox 19"/>
          <p:cNvSpPr txBox="1"/>
          <p:nvPr/>
        </p:nvSpPr>
        <p:spPr>
          <a:xfrm>
            <a:off x="8366759" y="2404872"/>
            <a:ext cx="3383280" cy="1005840"/>
          </a:xfrm>
          <a:prstGeom prst="rect">
            <a:avLst/>
          </a:prstGeom>
          <a:noFill/>
        </p:spPr>
        <p:txBody>
          <a:bodyPr wrap="square" lIns="0" tIns="0" rIns="0" bIns="0">
            <a:spAutoFit/>
          </a:bodyPr>
          <a:lstStyle/>
          <a:p>
            <a:pPr algn="l"/>
            <a:r>
              <a:rPr sz="1100" b="0" i="0">
                <a:solidFill>
                  <a:srgbClr val="445B7C"/>
                </a:solidFill>
                <a:latin typeface="Calibri"/>
              </a:rPr>
              <a:t>From 2 basic metrics (NAV, CAGR) to 9+ professional metrics including Sharpe, Sortino, Alpha, Beta, VaR, CVaR.</a:t>
            </a:r>
          </a:p>
        </p:txBody>
      </p:sp>
      <p:sp>
        <p:nvSpPr>
          <p:cNvPr id="21" name="Rounded Rectangle 20"/>
          <p:cNvSpPr/>
          <p:nvPr/>
        </p:nvSpPr>
        <p:spPr>
          <a:xfrm>
            <a:off x="320040" y="3749039"/>
            <a:ext cx="3749039"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20040" y="3890771"/>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913631"/>
            <a:ext cx="3108960" cy="548640"/>
          </a:xfrm>
          <a:prstGeom prst="rect">
            <a:avLst/>
          </a:prstGeom>
          <a:noFill/>
        </p:spPr>
        <p:txBody>
          <a:bodyPr wrap="square" lIns="0" tIns="0" rIns="0" bIns="0">
            <a:spAutoFit/>
          </a:bodyPr>
          <a:lstStyle/>
          <a:p>
            <a:pPr algn="l"/>
            <a:r>
              <a:rPr sz="2800" b="1" i="0">
                <a:solidFill>
                  <a:srgbClr val="124E8A"/>
                </a:solidFill>
                <a:latin typeface="Cambria"/>
              </a:rPr>
              <a:t>₹81L Cr</a:t>
            </a:r>
          </a:p>
        </p:txBody>
      </p:sp>
      <p:sp>
        <p:nvSpPr>
          <p:cNvPr id="24" name="TextBox 23"/>
          <p:cNvSpPr txBox="1"/>
          <p:nvPr/>
        </p:nvSpPr>
        <p:spPr>
          <a:xfrm>
            <a:off x="502920" y="4498848"/>
            <a:ext cx="3383280" cy="384048"/>
          </a:xfrm>
          <a:prstGeom prst="rect">
            <a:avLst/>
          </a:prstGeom>
          <a:noFill/>
        </p:spPr>
        <p:txBody>
          <a:bodyPr wrap="square" lIns="0" tIns="0" rIns="0" bIns="0">
            <a:spAutoFit/>
          </a:bodyPr>
          <a:lstStyle/>
          <a:p>
            <a:pPr algn="l"/>
            <a:r>
              <a:rPr sz="1300" b="1" i="0">
                <a:solidFill>
                  <a:srgbClr val="1A1A2E"/>
                </a:solidFill>
                <a:latin typeface="Calibri"/>
              </a:rPr>
              <a:t>Market Addressed</a:t>
            </a:r>
          </a:p>
        </p:txBody>
      </p:sp>
      <p:sp>
        <p:nvSpPr>
          <p:cNvPr id="25" name="TextBox 24"/>
          <p:cNvSpPr txBox="1"/>
          <p:nvPr/>
        </p:nvSpPr>
        <p:spPr>
          <a:xfrm>
            <a:off x="502920" y="4919472"/>
            <a:ext cx="3383280" cy="1005840"/>
          </a:xfrm>
          <a:prstGeom prst="rect">
            <a:avLst/>
          </a:prstGeom>
          <a:noFill/>
        </p:spPr>
        <p:txBody>
          <a:bodyPr wrap="square" lIns="0" tIns="0" rIns="0" bIns="0">
            <a:spAutoFit/>
          </a:bodyPr>
          <a:lstStyle/>
          <a:p>
            <a:pPr algn="l"/>
            <a:r>
              <a:rPr sz="1100" b="0" i="0">
                <a:solidFill>
                  <a:srgbClr val="445B7C"/>
                </a:solidFill>
                <a:latin typeface="Calibri"/>
              </a:rPr>
              <a:t>Platform scales to entire Indian MF industry. Architecture handles 1,500+ schemes with same star-schema design.</a:t>
            </a:r>
          </a:p>
        </p:txBody>
      </p:sp>
      <p:sp>
        <p:nvSpPr>
          <p:cNvPr id="26" name="Rounded Rectangle 25"/>
          <p:cNvSpPr/>
          <p:nvPr/>
        </p:nvSpPr>
        <p:spPr>
          <a:xfrm>
            <a:off x="4251959" y="3749039"/>
            <a:ext cx="3749039"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238440" y="3813048"/>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54879" y="3913631"/>
            <a:ext cx="3108960" cy="548640"/>
          </a:xfrm>
          <a:prstGeom prst="rect">
            <a:avLst/>
          </a:prstGeom>
          <a:noFill/>
        </p:spPr>
        <p:txBody>
          <a:bodyPr wrap="square" lIns="0" tIns="0" rIns="0" bIns="0">
            <a:spAutoFit/>
          </a:bodyPr>
          <a:lstStyle/>
          <a:p>
            <a:pPr algn="l"/>
            <a:r>
              <a:rPr sz="2800" b="1" i="0">
                <a:solidFill>
                  <a:srgbClr val="124E8A"/>
                </a:solidFill>
                <a:latin typeface="Cambria"/>
              </a:rPr>
              <a:t>26 Cr+</a:t>
            </a:r>
          </a:p>
        </p:txBody>
      </p:sp>
      <p:sp>
        <p:nvSpPr>
          <p:cNvPr id="29" name="TextBox 28"/>
          <p:cNvSpPr txBox="1"/>
          <p:nvPr/>
        </p:nvSpPr>
        <p:spPr>
          <a:xfrm>
            <a:off x="4434840" y="4498848"/>
            <a:ext cx="3383280" cy="384048"/>
          </a:xfrm>
          <a:prstGeom prst="rect">
            <a:avLst/>
          </a:prstGeom>
          <a:noFill/>
        </p:spPr>
        <p:txBody>
          <a:bodyPr wrap="square" lIns="0" tIns="0" rIns="0" bIns="0">
            <a:spAutoFit/>
          </a:bodyPr>
          <a:lstStyle/>
          <a:p>
            <a:pPr algn="l"/>
            <a:r>
              <a:rPr sz="1300" b="1" i="0">
                <a:solidFill>
                  <a:srgbClr val="1A1A2E"/>
                </a:solidFill>
                <a:latin typeface="Calibri"/>
              </a:rPr>
              <a:t>Investor Pool</a:t>
            </a:r>
          </a:p>
        </p:txBody>
      </p:sp>
      <p:sp>
        <p:nvSpPr>
          <p:cNvPr id="30" name="TextBox 29"/>
          <p:cNvSpPr txBox="1"/>
          <p:nvPr/>
        </p:nvSpPr>
        <p:spPr>
          <a:xfrm>
            <a:off x="4434840" y="4919472"/>
            <a:ext cx="3383280" cy="1005840"/>
          </a:xfrm>
          <a:prstGeom prst="rect">
            <a:avLst/>
          </a:prstGeom>
          <a:noFill/>
        </p:spPr>
        <p:txBody>
          <a:bodyPr wrap="square" lIns="0" tIns="0" rIns="0" bIns="0">
            <a:spAutoFit/>
          </a:bodyPr>
          <a:lstStyle/>
          <a:p>
            <a:pPr algn="l"/>
            <a:r>
              <a:rPr sz="1100" b="0" i="0">
                <a:solidFill>
                  <a:srgbClr val="445B7C"/>
                </a:solidFill>
                <a:latin typeface="Calibri"/>
              </a:rPr>
              <a:t>26.12 crore folios represent the addressable user base. Each investor needs exactly this kind of analytical decision support.</a:t>
            </a:r>
          </a:p>
        </p:txBody>
      </p:sp>
      <p:sp>
        <p:nvSpPr>
          <p:cNvPr id="31" name="Rounded Rectangle 30"/>
          <p:cNvSpPr/>
          <p:nvPr/>
        </p:nvSpPr>
        <p:spPr>
          <a:xfrm>
            <a:off x="8183879" y="3749039"/>
            <a:ext cx="3749039"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183880" y="3810393"/>
            <a:ext cx="502920" cy="50292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86800" y="3913631"/>
            <a:ext cx="3108960" cy="548640"/>
          </a:xfrm>
          <a:prstGeom prst="rect">
            <a:avLst/>
          </a:prstGeom>
          <a:noFill/>
        </p:spPr>
        <p:txBody>
          <a:bodyPr wrap="square" lIns="0" tIns="0" rIns="0" bIns="0">
            <a:spAutoFit/>
          </a:bodyPr>
          <a:lstStyle/>
          <a:p>
            <a:pPr algn="l"/>
            <a:r>
              <a:rPr sz="2800" b="1" i="0">
                <a:solidFill>
                  <a:srgbClr val="124E8A"/>
                </a:solidFill>
                <a:latin typeface="Cambria"/>
              </a:rPr>
              <a:t>100%</a:t>
            </a:r>
          </a:p>
        </p:txBody>
      </p:sp>
      <p:sp>
        <p:nvSpPr>
          <p:cNvPr id="34" name="TextBox 33"/>
          <p:cNvSpPr txBox="1"/>
          <p:nvPr/>
        </p:nvSpPr>
        <p:spPr>
          <a:xfrm>
            <a:off x="8366759" y="4498848"/>
            <a:ext cx="3383280" cy="384048"/>
          </a:xfrm>
          <a:prstGeom prst="rect">
            <a:avLst/>
          </a:prstGeom>
          <a:noFill/>
        </p:spPr>
        <p:txBody>
          <a:bodyPr wrap="square" lIns="0" tIns="0" rIns="0" bIns="0">
            <a:spAutoFit/>
          </a:bodyPr>
          <a:lstStyle/>
          <a:p>
            <a:pPr algn="l"/>
            <a:r>
              <a:rPr sz="1300" b="1" i="0">
                <a:solidFill>
                  <a:srgbClr val="1A1A2E"/>
                </a:solidFill>
                <a:latin typeface="Calibri"/>
              </a:rPr>
              <a:t>Open Source Stack</a:t>
            </a:r>
          </a:p>
        </p:txBody>
      </p:sp>
      <p:sp>
        <p:nvSpPr>
          <p:cNvPr id="35" name="TextBox 34"/>
          <p:cNvSpPr txBox="1"/>
          <p:nvPr/>
        </p:nvSpPr>
        <p:spPr>
          <a:xfrm>
            <a:off x="8366759" y="4919472"/>
            <a:ext cx="3383280" cy="1005840"/>
          </a:xfrm>
          <a:prstGeom prst="rect">
            <a:avLst/>
          </a:prstGeom>
          <a:noFill/>
        </p:spPr>
        <p:txBody>
          <a:bodyPr wrap="square" lIns="0" tIns="0" rIns="0" bIns="0">
            <a:spAutoFit/>
          </a:bodyPr>
          <a:lstStyle/>
          <a:p>
            <a:pPr algn="l"/>
            <a:r>
              <a:rPr sz="1100" b="0" i="0">
                <a:solidFill>
                  <a:srgbClr val="445B7C"/>
                </a:solidFill>
                <a:latin typeface="Calibri"/>
              </a:rPr>
              <a:t>Zero licensing cost. Python, SQLite, free APIs. Any fintech startup can deploy this stack without infrastructure spend.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Challenges &amp; Solutions</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Real-World Engineering Problems Encountered and Resolved</a:t>
            </a:r>
          </a:p>
        </p:txBody>
      </p:sp>
      <p:sp>
        <p:nvSpPr>
          <p:cNvPr id="6" name="Rectangle 5"/>
          <p:cNvSpPr/>
          <p:nvPr/>
        </p:nvSpPr>
        <p:spPr>
          <a:xfrm>
            <a:off x="320040" y="1234440"/>
            <a:ext cx="1143000" cy="1188720"/>
          </a:xfrm>
          <a:prstGeom prst="rect">
            <a:avLst/>
          </a:prstGeom>
          <a:solidFill>
            <a:srgbClr val="FF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325880"/>
            <a:ext cx="1143000" cy="548640"/>
          </a:xfrm>
          <a:prstGeom prst="rect">
            <a:avLst/>
          </a:prstGeom>
          <a:noFill/>
        </p:spPr>
        <p:txBody>
          <a:bodyPr wrap="square" lIns="0" tIns="0" rIns="0" bIns="0">
            <a:spAutoFit/>
          </a:bodyPr>
          <a:lstStyle/>
          <a:p>
            <a:pPr algn="ctr"/>
            <a:r>
              <a:rPr sz="2200" b="0" i="0">
                <a:solidFill>
                  <a:srgbClr val="CC2222"/>
                </a:solidFill>
                <a:latin typeface="Calibri"/>
              </a:rPr>
              <a:t>⚠</a:t>
            </a:r>
          </a:p>
        </p:txBody>
      </p:sp>
      <p:sp>
        <p:nvSpPr>
          <p:cNvPr id="8" name="TextBox 7"/>
          <p:cNvSpPr txBox="1"/>
          <p:nvPr/>
        </p:nvSpPr>
        <p:spPr>
          <a:xfrm>
            <a:off x="1554480" y="1307592"/>
            <a:ext cx="3566160" cy="384048"/>
          </a:xfrm>
          <a:prstGeom prst="rect">
            <a:avLst/>
          </a:prstGeom>
          <a:noFill/>
        </p:spPr>
        <p:txBody>
          <a:bodyPr wrap="square" lIns="0" tIns="0" rIns="0" bIns="0">
            <a:spAutoFit/>
          </a:bodyPr>
          <a:lstStyle/>
          <a:p>
            <a:pPr algn="l"/>
            <a:r>
              <a:rPr sz="1300" b="1" i="0">
                <a:solidFill>
                  <a:srgbClr val="CC2222"/>
                </a:solidFill>
                <a:latin typeface="Calibri"/>
              </a:rPr>
              <a:t>Data Quality Issues</a:t>
            </a:r>
          </a:p>
        </p:txBody>
      </p:sp>
      <p:sp>
        <p:nvSpPr>
          <p:cNvPr id="9" name="TextBox 8"/>
          <p:cNvSpPr txBox="1"/>
          <p:nvPr/>
        </p:nvSpPr>
        <p:spPr>
          <a:xfrm>
            <a:off x="1554480" y="1709928"/>
            <a:ext cx="3566160" cy="658368"/>
          </a:xfrm>
          <a:prstGeom prst="rect">
            <a:avLst/>
          </a:prstGeom>
          <a:noFill/>
        </p:spPr>
        <p:txBody>
          <a:bodyPr wrap="square" lIns="0" tIns="0" rIns="0" bIns="0">
            <a:spAutoFit/>
          </a:bodyPr>
          <a:lstStyle/>
          <a:p>
            <a:pPr algn="l"/>
            <a:r>
              <a:rPr sz="1100" b="0" i="0">
                <a:solidFill>
                  <a:srgbClr val="1A1A2E"/>
                </a:solidFill>
                <a:latin typeface="Calibri"/>
              </a:rPr>
              <a:t>Missing NAV values on weekends/holidays created gaps in return calculations, causing incorrect CAGR and inflated volatility figures.</a:t>
            </a:r>
          </a:p>
        </p:txBody>
      </p:sp>
      <p:sp>
        <p:nvSpPr>
          <p:cNvPr id="10" name="Rectangle 9"/>
          <p:cNvSpPr/>
          <p:nvPr/>
        </p:nvSpPr>
        <p:spPr>
          <a:xfrm>
            <a:off x="5257800" y="1691640"/>
            <a:ext cx="365760"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57800" y="1645920"/>
            <a:ext cx="411480" cy="411480"/>
          </a:xfrm>
          <a:prstGeom prst="rect">
            <a:avLst/>
          </a:prstGeom>
          <a:noFill/>
        </p:spPr>
        <p:txBody>
          <a:bodyPr wrap="square" lIns="0" tIns="0" rIns="0" bIns="0">
            <a:spAutoFit/>
          </a:bodyPr>
          <a:lstStyle/>
          <a:p>
            <a:pPr algn="ctr"/>
            <a:r>
              <a:rPr sz="1600" b="1" i="0">
                <a:solidFill>
                  <a:srgbClr val="FFFFFF"/>
                </a:solidFill>
                <a:latin typeface="Calibri"/>
              </a:rPr>
              <a:t>→</a:t>
            </a:r>
          </a:p>
        </p:txBody>
      </p:sp>
      <p:sp>
        <p:nvSpPr>
          <p:cNvPr id="12" name="Rectangle 11"/>
          <p:cNvSpPr/>
          <p:nvPr/>
        </p:nvSpPr>
        <p:spPr>
          <a:xfrm>
            <a:off x="5715000" y="1234440"/>
            <a:ext cx="256032" cy="11887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15000" y="1600200"/>
            <a:ext cx="256032" cy="457200"/>
          </a:xfrm>
          <a:prstGeom prst="rect">
            <a:avLst/>
          </a:prstGeom>
          <a:noFill/>
        </p:spPr>
        <p:txBody>
          <a:bodyPr wrap="square" lIns="0" tIns="0" rIns="0" bIns="0">
            <a:spAutoFit/>
          </a:bodyPr>
          <a:lstStyle/>
          <a:p>
            <a:pPr algn="ctr"/>
            <a:r>
              <a:rPr sz="1400" b="1" i="0">
                <a:solidFill>
                  <a:srgbClr val="FFFFFF"/>
                </a:solidFill>
                <a:latin typeface="Calibri"/>
              </a:rPr>
              <a:t>✓</a:t>
            </a:r>
          </a:p>
        </p:txBody>
      </p:sp>
      <p:sp>
        <p:nvSpPr>
          <p:cNvPr id="14" name="Rounded Rectangle 13"/>
          <p:cNvSpPr/>
          <p:nvPr/>
        </p:nvSpPr>
        <p:spPr>
          <a:xfrm>
            <a:off x="6035040" y="1280160"/>
            <a:ext cx="5806440" cy="1097280"/>
          </a:xfrm>
          <a:prstGeom prst="round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1344168"/>
            <a:ext cx="5532120" cy="960120"/>
          </a:xfrm>
          <a:prstGeom prst="rect">
            <a:avLst/>
          </a:prstGeom>
          <a:noFill/>
        </p:spPr>
        <p:txBody>
          <a:bodyPr wrap="square" lIns="0" tIns="0" rIns="0" bIns="0">
            <a:spAutoFit/>
          </a:bodyPr>
          <a:lstStyle/>
          <a:p>
            <a:pPr algn="l"/>
            <a:r>
              <a:rPr sz="1100" b="0" i="0">
                <a:solidFill>
                  <a:srgbClr val="1A1A2E"/>
                </a:solidFill>
                <a:latin typeface="Calibri"/>
              </a:rPr>
              <a:t>Applied pandas ffill() after reindexing to a full date range. Added validation checks to flag any scheme with &gt;5 consecutive missing NAVs.</a:t>
            </a:r>
          </a:p>
        </p:txBody>
      </p:sp>
      <p:sp>
        <p:nvSpPr>
          <p:cNvPr id="16" name="Rectangle 15"/>
          <p:cNvSpPr/>
          <p:nvPr/>
        </p:nvSpPr>
        <p:spPr>
          <a:xfrm>
            <a:off x="320040" y="2606040"/>
            <a:ext cx="1143000" cy="1188720"/>
          </a:xfrm>
          <a:prstGeom prst="rect">
            <a:avLst/>
          </a:prstGeom>
          <a:solidFill>
            <a:srgbClr val="FF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2697480"/>
            <a:ext cx="1143000" cy="548640"/>
          </a:xfrm>
          <a:prstGeom prst="rect">
            <a:avLst/>
          </a:prstGeom>
          <a:noFill/>
        </p:spPr>
        <p:txBody>
          <a:bodyPr wrap="square" lIns="0" tIns="0" rIns="0" bIns="0">
            <a:spAutoFit/>
          </a:bodyPr>
          <a:lstStyle/>
          <a:p>
            <a:pPr algn="ctr"/>
            <a:r>
              <a:rPr sz="2200" b="0" i="0">
                <a:solidFill>
                  <a:srgbClr val="CC2222"/>
                </a:solidFill>
                <a:latin typeface="Calibri"/>
              </a:rPr>
              <a:t>⚠</a:t>
            </a:r>
          </a:p>
        </p:txBody>
      </p:sp>
      <p:sp>
        <p:nvSpPr>
          <p:cNvPr id="18" name="TextBox 17"/>
          <p:cNvSpPr txBox="1"/>
          <p:nvPr/>
        </p:nvSpPr>
        <p:spPr>
          <a:xfrm>
            <a:off x="1554480" y="2679192"/>
            <a:ext cx="3566160" cy="384048"/>
          </a:xfrm>
          <a:prstGeom prst="rect">
            <a:avLst/>
          </a:prstGeom>
          <a:noFill/>
        </p:spPr>
        <p:txBody>
          <a:bodyPr wrap="square" lIns="0" tIns="0" rIns="0" bIns="0">
            <a:spAutoFit/>
          </a:bodyPr>
          <a:lstStyle/>
          <a:p>
            <a:pPr algn="l"/>
            <a:r>
              <a:rPr sz="1300" b="1" i="0">
                <a:solidFill>
                  <a:srgbClr val="CC2222"/>
                </a:solidFill>
                <a:latin typeface="Calibri"/>
              </a:rPr>
              <a:t>CAGR Calculation Error</a:t>
            </a:r>
          </a:p>
        </p:txBody>
      </p:sp>
      <p:sp>
        <p:nvSpPr>
          <p:cNvPr id="19" name="TextBox 18"/>
          <p:cNvSpPr txBox="1"/>
          <p:nvPr/>
        </p:nvSpPr>
        <p:spPr>
          <a:xfrm>
            <a:off x="1554480" y="3081528"/>
            <a:ext cx="3566160" cy="658368"/>
          </a:xfrm>
          <a:prstGeom prst="rect">
            <a:avLst/>
          </a:prstGeom>
          <a:noFill/>
        </p:spPr>
        <p:txBody>
          <a:bodyPr wrap="square" lIns="0" tIns="0" rIns="0" bIns="0">
            <a:spAutoFit/>
          </a:bodyPr>
          <a:lstStyle/>
          <a:p>
            <a:pPr algn="l"/>
            <a:r>
              <a:rPr sz="1100" b="0" i="0">
                <a:solidFill>
                  <a:srgbClr val="1A1A2E"/>
                </a:solidFill>
                <a:latin typeface="Calibri"/>
              </a:rPr>
              <a:t>Initial CAGR used calendar days (365), not trading days (252), resulting in overstated annualized returns by 10-15% for some schemes.</a:t>
            </a:r>
          </a:p>
        </p:txBody>
      </p:sp>
      <p:sp>
        <p:nvSpPr>
          <p:cNvPr id="20" name="Rectangle 19"/>
          <p:cNvSpPr/>
          <p:nvPr/>
        </p:nvSpPr>
        <p:spPr>
          <a:xfrm>
            <a:off x="5257800" y="3063240"/>
            <a:ext cx="365760"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57800" y="3017520"/>
            <a:ext cx="411480" cy="411480"/>
          </a:xfrm>
          <a:prstGeom prst="rect">
            <a:avLst/>
          </a:prstGeom>
          <a:noFill/>
        </p:spPr>
        <p:txBody>
          <a:bodyPr wrap="square" lIns="0" tIns="0" rIns="0" bIns="0">
            <a:spAutoFit/>
          </a:bodyPr>
          <a:lstStyle/>
          <a:p>
            <a:pPr algn="ctr"/>
            <a:r>
              <a:rPr sz="1600" b="1" i="0">
                <a:solidFill>
                  <a:srgbClr val="FFFFFF"/>
                </a:solidFill>
                <a:latin typeface="Calibri"/>
              </a:rPr>
              <a:t>→</a:t>
            </a:r>
          </a:p>
        </p:txBody>
      </p:sp>
      <p:sp>
        <p:nvSpPr>
          <p:cNvPr id="22" name="Rectangle 21"/>
          <p:cNvSpPr/>
          <p:nvPr/>
        </p:nvSpPr>
        <p:spPr>
          <a:xfrm>
            <a:off x="5715000" y="2606040"/>
            <a:ext cx="256032" cy="11887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15000" y="2971800"/>
            <a:ext cx="256032" cy="457200"/>
          </a:xfrm>
          <a:prstGeom prst="rect">
            <a:avLst/>
          </a:prstGeom>
          <a:noFill/>
        </p:spPr>
        <p:txBody>
          <a:bodyPr wrap="square" lIns="0" tIns="0" rIns="0" bIns="0">
            <a:spAutoFit/>
          </a:bodyPr>
          <a:lstStyle/>
          <a:p>
            <a:pPr algn="ctr"/>
            <a:r>
              <a:rPr sz="1400" b="1" i="0">
                <a:solidFill>
                  <a:srgbClr val="FFFFFF"/>
                </a:solidFill>
                <a:latin typeface="Calibri"/>
              </a:rPr>
              <a:t>✓</a:t>
            </a:r>
          </a:p>
        </p:txBody>
      </p:sp>
      <p:sp>
        <p:nvSpPr>
          <p:cNvPr id="24" name="Rounded Rectangle 23"/>
          <p:cNvSpPr/>
          <p:nvPr/>
        </p:nvSpPr>
        <p:spPr>
          <a:xfrm>
            <a:off x="6035040" y="2651760"/>
            <a:ext cx="5806440" cy="1097280"/>
          </a:xfrm>
          <a:prstGeom prst="round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72200" y="2715768"/>
            <a:ext cx="5532120" cy="960120"/>
          </a:xfrm>
          <a:prstGeom prst="rect">
            <a:avLst/>
          </a:prstGeom>
          <a:noFill/>
        </p:spPr>
        <p:txBody>
          <a:bodyPr wrap="square" lIns="0" tIns="0" rIns="0" bIns="0">
            <a:spAutoFit/>
          </a:bodyPr>
          <a:lstStyle/>
          <a:p>
            <a:pPr algn="l"/>
            <a:r>
              <a:rPr sz="1100" b="0" i="0">
                <a:solidFill>
                  <a:srgbClr val="1A1A2E"/>
                </a:solidFill>
                <a:latin typeface="Calibri"/>
              </a:rPr>
              <a:t>Replaced calendar-day CAGR with trading-day normalized formula: (end/start)^(252/n_trading_days)–1. Validated against AMFI official returns.</a:t>
            </a:r>
          </a:p>
        </p:txBody>
      </p:sp>
      <p:sp>
        <p:nvSpPr>
          <p:cNvPr id="26" name="Rectangle 25"/>
          <p:cNvSpPr/>
          <p:nvPr/>
        </p:nvSpPr>
        <p:spPr>
          <a:xfrm>
            <a:off x="320040" y="3977639"/>
            <a:ext cx="1143000" cy="1188720"/>
          </a:xfrm>
          <a:prstGeom prst="rect">
            <a:avLst/>
          </a:prstGeom>
          <a:solidFill>
            <a:srgbClr val="FF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4069079"/>
            <a:ext cx="1143000" cy="548640"/>
          </a:xfrm>
          <a:prstGeom prst="rect">
            <a:avLst/>
          </a:prstGeom>
          <a:noFill/>
        </p:spPr>
        <p:txBody>
          <a:bodyPr wrap="square" lIns="0" tIns="0" rIns="0" bIns="0">
            <a:spAutoFit/>
          </a:bodyPr>
          <a:lstStyle/>
          <a:p>
            <a:pPr algn="ctr"/>
            <a:r>
              <a:rPr sz="2200" b="0" i="0">
                <a:solidFill>
                  <a:srgbClr val="CC2222"/>
                </a:solidFill>
                <a:latin typeface="Calibri"/>
              </a:rPr>
              <a:t>⚠</a:t>
            </a:r>
          </a:p>
        </p:txBody>
      </p:sp>
      <p:sp>
        <p:nvSpPr>
          <p:cNvPr id="28" name="TextBox 27"/>
          <p:cNvSpPr txBox="1"/>
          <p:nvPr/>
        </p:nvSpPr>
        <p:spPr>
          <a:xfrm>
            <a:off x="1554480" y="4050791"/>
            <a:ext cx="3566160" cy="384048"/>
          </a:xfrm>
          <a:prstGeom prst="rect">
            <a:avLst/>
          </a:prstGeom>
          <a:noFill/>
        </p:spPr>
        <p:txBody>
          <a:bodyPr wrap="square" lIns="0" tIns="0" rIns="0" bIns="0">
            <a:spAutoFit/>
          </a:bodyPr>
          <a:lstStyle/>
          <a:p>
            <a:pPr algn="l"/>
            <a:r>
              <a:rPr sz="1300" b="1" i="0">
                <a:solidFill>
                  <a:srgbClr val="CC2222"/>
                </a:solidFill>
                <a:latin typeface="Calibri"/>
              </a:rPr>
              <a:t>SQLite Performance on 87K Rows</a:t>
            </a:r>
          </a:p>
        </p:txBody>
      </p:sp>
      <p:sp>
        <p:nvSpPr>
          <p:cNvPr id="29" name="TextBox 28"/>
          <p:cNvSpPr txBox="1"/>
          <p:nvPr/>
        </p:nvSpPr>
        <p:spPr>
          <a:xfrm>
            <a:off x="1554480" y="4453127"/>
            <a:ext cx="3566160" cy="658368"/>
          </a:xfrm>
          <a:prstGeom prst="rect">
            <a:avLst/>
          </a:prstGeom>
          <a:noFill/>
        </p:spPr>
        <p:txBody>
          <a:bodyPr wrap="square" lIns="0" tIns="0" rIns="0" bIns="0">
            <a:spAutoFit/>
          </a:bodyPr>
          <a:lstStyle/>
          <a:p>
            <a:pPr algn="l"/>
            <a:r>
              <a:rPr sz="1100" b="0" i="0">
                <a:solidFill>
                  <a:srgbClr val="1A1A2E"/>
                </a:solidFill>
                <a:latin typeface="Calibri"/>
              </a:rPr>
              <a:t>Joins across 8 tables on 87,000 rows for 10 analytical queries initially took 8-12 seconds each—too slow for dashboard refresh.</a:t>
            </a:r>
          </a:p>
        </p:txBody>
      </p:sp>
      <p:sp>
        <p:nvSpPr>
          <p:cNvPr id="30" name="Rectangle 29"/>
          <p:cNvSpPr/>
          <p:nvPr/>
        </p:nvSpPr>
        <p:spPr>
          <a:xfrm>
            <a:off x="5257800" y="4434840"/>
            <a:ext cx="365760"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57800" y="4389120"/>
            <a:ext cx="411480" cy="411480"/>
          </a:xfrm>
          <a:prstGeom prst="rect">
            <a:avLst/>
          </a:prstGeom>
          <a:noFill/>
        </p:spPr>
        <p:txBody>
          <a:bodyPr wrap="square" lIns="0" tIns="0" rIns="0" bIns="0">
            <a:spAutoFit/>
          </a:bodyPr>
          <a:lstStyle/>
          <a:p>
            <a:pPr algn="ctr"/>
            <a:r>
              <a:rPr sz="1600" b="1" i="0">
                <a:solidFill>
                  <a:srgbClr val="FFFFFF"/>
                </a:solidFill>
                <a:latin typeface="Calibri"/>
              </a:rPr>
              <a:t>→</a:t>
            </a:r>
          </a:p>
        </p:txBody>
      </p:sp>
      <p:sp>
        <p:nvSpPr>
          <p:cNvPr id="32" name="Rectangle 31"/>
          <p:cNvSpPr/>
          <p:nvPr/>
        </p:nvSpPr>
        <p:spPr>
          <a:xfrm>
            <a:off x="5715000" y="3977639"/>
            <a:ext cx="256032" cy="11887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15000" y="4343400"/>
            <a:ext cx="256032" cy="457200"/>
          </a:xfrm>
          <a:prstGeom prst="rect">
            <a:avLst/>
          </a:prstGeom>
          <a:noFill/>
        </p:spPr>
        <p:txBody>
          <a:bodyPr wrap="square" lIns="0" tIns="0" rIns="0" bIns="0">
            <a:spAutoFit/>
          </a:bodyPr>
          <a:lstStyle/>
          <a:p>
            <a:pPr algn="ctr"/>
            <a:r>
              <a:rPr sz="1400" b="1" i="0">
                <a:solidFill>
                  <a:srgbClr val="FFFFFF"/>
                </a:solidFill>
                <a:latin typeface="Calibri"/>
              </a:rPr>
              <a:t>✓</a:t>
            </a:r>
          </a:p>
        </p:txBody>
      </p:sp>
      <p:sp>
        <p:nvSpPr>
          <p:cNvPr id="34" name="Rounded Rectangle 33"/>
          <p:cNvSpPr/>
          <p:nvPr/>
        </p:nvSpPr>
        <p:spPr>
          <a:xfrm>
            <a:off x="6035040" y="4023359"/>
            <a:ext cx="5806440" cy="1097280"/>
          </a:xfrm>
          <a:prstGeom prst="round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4087368"/>
            <a:ext cx="5532120" cy="960120"/>
          </a:xfrm>
          <a:prstGeom prst="rect">
            <a:avLst/>
          </a:prstGeom>
          <a:noFill/>
        </p:spPr>
        <p:txBody>
          <a:bodyPr wrap="square" lIns="0" tIns="0" rIns="0" bIns="0">
            <a:spAutoFit/>
          </a:bodyPr>
          <a:lstStyle/>
          <a:p>
            <a:pPr algn="l"/>
            <a:r>
              <a:rPr sz="1100" b="0" i="0">
                <a:solidFill>
                  <a:srgbClr val="1A1A2E"/>
                </a:solidFill>
                <a:latin typeface="Calibri"/>
              </a:rPr>
              <a:t>Added composite indexes on (amfi_code, nav_date) in fact_nav and (amfi_code, as_of_date) in fact_performance. Query time reduced to &lt;0.5s.</a:t>
            </a:r>
          </a:p>
        </p:txBody>
      </p:sp>
      <p:sp>
        <p:nvSpPr>
          <p:cNvPr id="36" name="Rectangle 35"/>
          <p:cNvSpPr/>
          <p:nvPr/>
        </p:nvSpPr>
        <p:spPr>
          <a:xfrm>
            <a:off x="320040" y="5349240"/>
            <a:ext cx="1143000" cy="1188720"/>
          </a:xfrm>
          <a:prstGeom prst="rect">
            <a:avLst/>
          </a:prstGeom>
          <a:solidFill>
            <a:srgbClr val="FF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0040" y="5440679"/>
            <a:ext cx="1143000" cy="548640"/>
          </a:xfrm>
          <a:prstGeom prst="rect">
            <a:avLst/>
          </a:prstGeom>
          <a:noFill/>
        </p:spPr>
        <p:txBody>
          <a:bodyPr wrap="square" lIns="0" tIns="0" rIns="0" bIns="0">
            <a:spAutoFit/>
          </a:bodyPr>
          <a:lstStyle/>
          <a:p>
            <a:pPr algn="ctr"/>
            <a:r>
              <a:rPr sz="2200" b="0" i="0">
                <a:solidFill>
                  <a:srgbClr val="CC2222"/>
                </a:solidFill>
                <a:latin typeface="Calibri"/>
              </a:rPr>
              <a:t>⚠</a:t>
            </a:r>
          </a:p>
        </p:txBody>
      </p:sp>
      <p:sp>
        <p:nvSpPr>
          <p:cNvPr id="38" name="TextBox 37"/>
          <p:cNvSpPr txBox="1"/>
          <p:nvPr/>
        </p:nvSpPr>
        <p:spPr>
          <a:xfrm>
            <a:off x="1554480" y="5422392"/>
            <a:ext cx="3566160" cy="384048"/>
          </a:xfrm>
          <a:prstGeom prst="rect">
            <a:avLst/>
          </a:prstGeom>
          <a:noFill/>
        </p:spPr>
        <p:txBody>
          <a:bodyPr wrap="square" lIns="0" tIns="0" rIns="0" bIns="0">
            <a:spAutoFit/>
          </a:bodyPr>
          <a:lstStyle/>
          <a:p>
            <a:pPr algn="l"/>
            <a:r>
              <a:rPr sz="1300" b="1" i="0">
                <a:solidFill>
                  <a:srgbClr val="CC2222"/>
                </a:solidFill>
                <a:latin typeface="Calibri"/>
              </a:rPr>
              <a:t>Power BI SQLite Connectivity</a:t>
            </a:r>
          </a:p>
        </p:txBody>
      </p:sp>
      <p:sp>
        <p:nvSpPr>
          <p:cNvPr id="39" name="TextBox 38"/>
          <p:cNvSpPr txBox="1"/>
          <p:nvPr/>
        </p:nvSpPr>
        <p:spPr>
          <a:xfrm>
            <a:off x="1554480" y="5824727"/>
            <a:ext cx="3566160" cy="658368"/>
          </a:xfrm>
          <a:prstGeom prst="rect">
            <a:avLst/>
          </a:prstGeom>
          <a:noFill/>
        </p:spPr>
        <p:txBody>
          <a:bodyPr wrap="square" lIns="0" tIns="0" rIns="0" bIns="0">
            <a:spAutoFit/>
          </a:bodyPr>
          <a:lstStyle/>
          <a:p>
            <a:pPr algn="l"/>
            <a:r>
              <a:rPr sz="1100" b="0" i="0">
                <a:solidFill>
                  <a:srgbClr val="1A1A2E"/>
                </a:solidFill>
                <a:latin typeface="Calibri"/>
              </a:rPr>
              <a:t>Power BI Desktop lacks native SQLite connector. Direct .db file import failed for cross-table relationship queries.</a:t>
            </a:r>
          </a:p>
        </p:txBody>
      </p:sp>
      <p:sp>
        <p:nvSpPr>
          <p:cNvPr id="40" name="Rectangle 39"/>
          <p:cNvSpPr/>
          <p:nvPr/>
        </p:nvSpPr>
        <p:spPr>
          <a:xfrm>
            <a:off x="5257800" y="5806440"/>
            <a:ext cx="365760" cy="274320"/>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257800" y="5760720"/>
            <a:ext cx="411480" cy="411480"/>
          </a:xfrm>
          <a:prstGeom prst="rect">
            <a:avLst/>
          </a:prstGeom>
          <a:noFill/>
        </p:spPr>
        <p:txBody>
          <a:bodyPr wrap="square" lIns="0" tIns="0" rIns="0" bIns="0">
            <a:spAutoFit/>
          </a:bodyPr>
          <a:lstStyle/>
          <a:p>
            <a:pPr algn="ctr"/>
            <a:r>
              <a:rPr sz="1600" b="1" i="0">
                <a:solidFill>
                  <a:srgbClr val="FFFFFF"/>
                </a:solidFill>
                <a:latin typeface="Calibri"/>
              </a:rPr>
              <a:t>→</a:t>
            </a:r>
          </a:p>
        </p:txBody>
      </p:sp>
      <p:sp>
        <p:nvSpPr>
          <p:cNvPr id="42" name="Rectangle 41"/>
          <p:cNvSpPr/>
          <p:nvPr/>
        </p:nvSpPr>
        <p:spPr>
          <a:xfrm>
            <a:off x="5715000" y="5349240"/>
            <a:ext cx="256032" cy="11887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715000" y="5715000"/>
            <a:ext cx="256032" cy="457200"/>
          </a:xfrm>
          <a:prstGeom prst="rect">
            <a:avLst/>
          </a:prstGeom>
          <a:noFill/>
        </p:spPr>
        <p:txBody>
          <a:bodyPr wrap="square" lIns="0" tIns="0" rIns="0" bIns="0">
            <a:spAutoFit/>
          </a:bodyPr>
          <a:lstStyle/>
          <a:p>
            <a:pPr algn="ctr"/>
            <a:r>
              <a:rPr sz="1400" b="1" i="0">
                <a:solidFill>
                  <a:srgbClr val="FFFFFF"/>
                </a:solidFill>
                <a:latin typeface="Calibri"/>
              </a:rPr>
              <a:t>✓</a:t>
            </a:r>
          </a:p>
        </p:txBody>
      </p:sp>
      <p:sp>
        <p:nvSpPr>
          <p:cNvPr id="44" name="Rounded Rectangle 43"/>
          <p:cNvSpPr/>
          <p:nvPr/>
        </p:nvSpPr>
        <p:spPr>
          <a:xfrm>
            <a:off x="6035040" y="5394959"/>
            <a:ext cx="5806440" cy="1097280"/>
          </a:xfrm>
          <a:prstGeom prst="roundRect">
            <a:avLst/>
          </a:prstGeom>
          <a:solidFill>
            <a:srgbClr val="E8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172200" y="5458968"/>
            <a:ext cx="5532120" cy="960120"/>
          </a:xfrm>
          <a:prstGeom prst="rect">
            <a:avLst/>
          </a:prstGeom>
          <a:noFill/>
        </p:spPr>
        <p:txBody>
          <a:bodyPr wrap="square" lIns="0" tIns="0" rIns="0" bIns="0">
            <a:spAutoFit/>
          </a:bodyPr>
          <a:lstStyle/>
          <a:p>
            <a:pPr algn="l"/>
            <a:r>
              <a:rPr sz="1100" b="0" i="0">
                <a:solidFill>
                  <a:srgbClr val="1A1A2E"/>
                </a:solidFill>
                <a:latin typeface="Calibri"/>
              </a:rPr>
              <a:t>Exported all fact/dim tables to CSV post-ETL. Loaded CSVs into Power BI and recreated star-schema relationships in Model View.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lIns="0" tIns="0" rIns="0" bIns="0">
            <a:spAutoFit/>
          </a:bodyPr>
          <a:lstStyle/>
          <a:p>
            <a:pPr algn="l"/>
            <a:r>
              <a:rPr sz="2800" b="1" i="0">
                <a:solidFill>
                  <a:srgbClr val="FFFFFF"/>
                </a:solidFill>
                <a:latin typeface="Cambria"/>
              </a:rPr>
              <a:t>Future Enhancements</a:t>
            </a:r>
          </a:p>
        </p:txBody>
      </p:sp>
      <p:sp>
        <p:nvSpPr>
          <p:cNvPr id="5" name="TextBox 4"/>
          <p:cNvSpPr txBox="1"/>
          <p:nvPr/>
        </p:nvSpPr>
        <p:spPr>
          <a:xfrm>
            <a:off x="457200" y="685800"/>
            <a:ext cx="9144000" cy="320040"/>
          </a:xfrm>
          <a:prstGeom prst="rect">
            <a:avLst/>
          </a:prstGeom>
          <a:noFill/>
        </p:spPr>
        <p:txBody>
          <a:bodyPr wrap="square" lIns="0" tIns="0" rIns="0" bIns="0">
            <a:spAutoFit/>
          </a:bodyPr>
          <a:lstStyle/>
          <a:p>
            <a:pPr algn="l"/>
            <a:r>
              <a:rPr sz="1100" b="0" i="0">
                <a:solidFill>
                  <a:srgbClr val="009BE8"/>
                </a:solidFill>
                <a:latin typeface="Calibri"/>
              </a:rPr>
              <a:t>Next-Phase Roadmap · Advanced Analytics · AI Integration</a:t>
            </a:r>
          </a:p>
        </p:txBody>
      </p:sp>
      <p:sp>
        <p:nvSpPr>
          <p:cNvPr id="6" name="Rounded Rectangle 5"/>
          <p:cNvSpPr/>
          <p:nvPr/>
        </p:nvSpPr>
        <p:spPr>
          <a:xfrm>
            <a:off x="320040" y="1188720"/>
            <a:ext cx="3749039"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3749039"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 y="1243584"/>
            <a:ext cx="1005840" cy="256032"/>
          </a:xfrm>
          <a:prstGeom prst="rect">
            <a:avLst/>
          </a:prstGeom>
          <a:noFill/>
        </p:spPr>
        <p:txBody>
          <a:bodyPr wrap="square" lIns="0" tIns="0" rIns="0" bIns="0">
            <a:spAutoFit/>
          </a:bodyPr>
          <a:lstStyle/>
          <a:p>
            <a:pPr algn="l"/>
            <a:r>
              <a:rPr sz="1000" b="1" i="0">
                <a:solidFill>
                  <a:srgbClr val="FFFFFF"/>
                </a:solidFill>
                <a:latin typeface="Calibri"/>
              </a:rPr>
              <a:t>Phase 1</a:t>
            </a:r>
          </a:p>
        </p:txBody>
      </p:sp>
      <p:sp>
        <p:nvSpPr>
          <p:cNvPr id="9" name="TextBox 8"/>
          <p:cNvSpPr txBox="1"/>
          <p:nvPr/>
        </p:nvSpPr>
        <p:spPr>
          <a:xfrm>
            <a:off x="429768" y="1609344"/>
            <a:ext cx="3529584" cy="411480"/>
          </a:xfrm>
          <a:prstGeom prst="rect">
            <a:avLst/>
          </a:prstGeom>
          <a:noFill/>
        </p:spPr>
        <p:txBody>
          <a:bodyPr wrap="square" lIns="0" tIns="0" rIns="0" bIns="0">
            <a:spAutoFit/>
          </a:bodyPr>
          <a:lstStyle/>
          <a:p>
            <a:pPr algn="l"/>
            <a:r>
              <a:rPr sz="1300" b="1" i="0">
                <a:solidFill>
                  <a:srgbClr val="1A1A2E"/>
                </a:solidFill>
                <a:latin typeface="Calibri"/>
              </a:rPr>
              <a:t>Live NAV API Automation</a:t>
            </a:r>
          </a:p>
        </p:txBody>
      </p:sp>
      <p:sp>
        <p:nvSpPr>
          <p:cNvPr id="10" name="TextBox 9"/>
          <p:cNvSpPr txBox="1"/>
          <p:nvPr/>
        </p:nvSpPr>
        <p:spPr>
          <a:xfrm>
            <a:off x="429768" y="2066543"/>
            <a:ext cx="3529584" cy="1417320"/>
          </a:xfrm>
          <a:prstGeom prst="rect">
            <a:avLst/>
          </a:prstGeom>
          <a:noFill/>
        </p:spPr>
        <p:txBody>
          <a:bodyPr wrap="square" lIns="0" tIns="0" rIns="0" bIns="0">
            <a:spAutoFit/>
          </a:bodyPr>
          <a:lstStyle/>
          <a:p>
            <a:pPr algn="l"/>
            <a:r>
              <a:rPr sz="1100" b="0" i="0">
                <a:solidFill>
                  <a:srgbClr val="445B7C"/>
                </a:solidFill>
                <a:latin typeface="Calibri"/>
              </a:rPr>
              <a:t>Schedule etl_pipeline.py as a cron job (weekdays 8 PM) to auto-fetch NAV from mfapi.in. Dashboard auto-refreshes nightly with zero manual intervention.</a:t>
            </a:r>
          </a:p>
        </p:txBody>
      </p:sp>
      <p:sp>
        <p:nvSpPr>
          <p:cNvPr id="11" name="Rounded Rectangle 10"/>
          <p:cNvSpPr/>
          <p:nvPr/>
        </p:nvSpPr>
        <p:spPr>
          <a:xfrm>
            <a:off x="4251959" y="1188720"/>
            <a:ext cx="3749039"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59" y="1188720"/>
            <a:ext cx="3749039" cy="347472"/>
          </a:xfrm>
          <a:prstGeom prst="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61688" y="1243584"/>
            <a:ext cx="1005840" cy="256032"/>
          </a:xfrm>
          <a:prstGeom prst="rect">
            <a:avLst/>
          </a:prstGeom>
          <a:noFill/>
        </p:spPr>
        <p:txBody>
          <a:bodyPr wrap="square" lIns="0" tIns="0" rIns="0" bIns="0">
            <a:spAutoFit/>
          </a:bodyPr>
          <a:lstStyle/>
          <a:p>
            <a:pPr algn="l"/>
            <a:r>
              <a:rPr sz="1000" b="1" i="0">
                <a:solidFill>
                  <a:srgbClr val="FFFFFF"/>
                </a:solidFill>
                <a:latin typeface="Calibri"/>
              </a:rPr>
              <a:t>Phase 2</a:t>
            </a:r>
          </a:p>
        </p:txBody>
      </p:sp>
      <p:sp>
        <p:nvSpPr>
          <p:cNvPr id="14" name="TextBox 13"/>
          <p:cNvSpPr txBox="1"/>
          <p:nvPr/>
        </p:nvSpPr>
        <p:spPr>
          <a:xfrm>
            <a:off x="4361688" y="1609344"/>
            <a:ext cx="3529584" cy="411480"/>
          </a:xfrm>
          <a:prstGeom prst="rect">
            <a:avLst/>
          </a:prstGeom>
          <a:noFill/>
        </p:spPr>
        <p:txBody>
          <a:bodyPr wrap="square" lIns="0" tIns="0" rIns="0" bIns="0">
            <a:spAutoFit/>
          </a:bodyPr>
          <a:lstStyle/>
          <a:p>
            <a:pPr algn="l"/>
            <a:r>
              <a:rPr sz="1300" b="1" i="0">
                <a:solidFill>
                  <a:srgbClr val="1A1A2E"/>
                </a:solidFill>
                <a:latin typeface="Calibri"/>
              </a:rPr>
              <a:t>Machine Learning Predictions</a:t>
            </a:r>
          </a:p>
        </p:txBody>
      </p:sp>
      <p:sp>
        <p:nvSpPr>
          <p:cNvPr id="15" name="TextBox 14"/>
          <p:cNvSpPr txBox="1"/>
          <p:nvPr/>
        </p:nvSpPr>
        <p:spPr>
          <a:xfrm>
            <a:off x="4361688" y="2066543"/>
            <a:ext cx="3529584" cy="1417320"/>
          </a:xfrm>
          <a:prstGeom prst="rect">
            <a:avLst/>
          </a:prstGeom>
          <a:noFill/>
        </p:spPr>
        <p:txBody>
          <a:bodyPr wrap="square" lIns="0" tIns="0" rIns="0" bIns="0">
            <a:spAutoFit/>
          </a:bodyPr>
          <a:lstStyle/>
          <a:p>
            <a:pPr algn="l"/>
            <a:r>
              <a:rPr sz="1100" b="0" i="0">
                <a:solidFill>
                  <a:srgbClr val="445B7C"/>
                </a:solidFill>
                <a:latin typeface="Calibri"/>
              </a:rPr>
              <a:t>Train LSTM/Prophet time-series models on 4.5 years of NAV data to generate 90-day NAV forecasts with confidence intervals. Monte Carlo simulations for 5-year wealth projection.</a:t>
            </a:r>
          </a:p>
        </p:txBody>
      </p:sp>
      <p:sp>
        <p:nvSpPr>
          <p:cNvPr id="16" name="Rounded Rectangle 15"/>
          <p:cNvSpPr/>
          <p:nvPr/>
        </p:nvSpPr>
        <p:spPr>
          <a:xfrm>
            <a:off x="8183879" y="1188720"/>
            <a:ext cx="3749039"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188720"/>
            <a:ext cx="3749039" cy="347472"/>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7" y="1243584"/>
            <a:ext cx="1005840" cy="256032"/>
          </a:xfrm>
          <a:prstGeom prst="rect">
            <a:avLst/>
          </a:prstGeom>
          <a:noFill/>
        </p:spPr>
        <p:txBody>
          <a:bodyPr wrap="square" lIns="0" tIns="0" rIns="0" bIns="0">
            <a:spAutoFit/>
          </a:bodyPr>
          <a:lstStyle/>
          <a:p>
            <a:pPr algn="l"/>
            <a:r>
              <a:rPr sz="1000" b="1" i="0">
                <a:solidFill>
                  <a:srgbClr val="FFFFFF"/>
                </a:solidFill>
                <a:latin typeface="Calibri"/>
              </a:rPr>
              <a:t>Phase 3</a:t>
            </a:r>
          </a:p>
        </p:txBody>
      </p:sp>
      <p:sp>
        <p:nvSpPr>
          <p:cNvPr id="19" name="TextBox 18"/>
          <p:cNvSpPr txBox="1"/>
          <p:nvPr/>
        </p:nvSpPr>
        <p:spPr>
          <a:xfrm>
            <a:off x="8293607" y="1609344"/>
            <a:ext cx="3529584" cy="411480"/>
          </a:xfrm>
          <a:prstGeom prst="rect">
            <a:avLst/>
          </a:prstGeom>
          <a:noFill/>
        </p:spPr>
        <p:txBody>
          <a:bodyPr wrap="square" lIns="0" tIns="0" rIns="0" bIns="0">
            <a:spAutoFit/>
          </a:bodyPr>
          <a:lstStyle/>
          <a:p>
            <a:pPr algn="l"/>
            <a:r>
              <a:rPr sz="1300" b="1" i="0">
                <a:solidFill>
                  <a:srgbClr val="1A1A2E"/>
                </a:solidFill>
                <a:latin typeface="Calibri"/>
              </a:rPr>
              <a:t>Portfolio Optimisation</a:t>
            </a:r>
          </a:p>
        </p:txBody>
      </p:sp>
      <p:sp>
        <p:nvSpPr>
          <p:cNvPr id="20" name="TextBox 19"/>
          <p:cNvSpPr txBox="1"/>
          <p:nvPr/>
        </p:nvSpPr>
        <p:spPr>
          <a:xfrm>
            <a:off x="8293607" y="2066543"/>
            <a:ext cx="3529584" cy="1417320"/>
          </a:xfrm>
          <a:prstGeom prst="rect">
            <a:avLst/>
          </a:prstGeom>
          <a:noFill/>
        </p:spPr>
        <p:txBody>
          <a:bodyPr wrap="square" lIns="0" tIns="0" rIns="0" bIns="0">
            <a:spAutoFit/>
          </a:bodyPr>
          <a:lstStyle/>
          <a:p>
            <a:pPr algn="l"/>
            <a:r>
              <a:rPr sz="1100" b="0" i="0">
                <a:solidFill>
                  <a:srgbClr val="445B7C"/>
                </a:solidFill>
                <a:latin typeface="Calibri"/>
              </a:rPr>
              <a:t>Implement Markowitz Efficient Frontier for a user's 5-fund portfolio. Compute optimal weights that maximize Sharpe Ratio. Visual: risk-return surface with optimal allocation point highlighted.</a:t>
            </a:r>
          </a:p>
        </p:txBody>
      </p:sp>
      <p:sp>
        <p:nvSpPr>
          <p:cNvPr id="21" name="Rounded Rectangle 20"/>
          <p:cNvSpPr/>
          <p:nvPr/>
        </p:nvSpPr>
        <p:spPr>
          <a:xfrm>
            <a:off x="320040" y="3794760"/>
            <a:ext cx="3749039"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3794760"/>
            <a:ext cx="3749039" cy="347472"/>
          </a:xfrm>
          <a:prstGeom prst="rect">
            <a:avLst/>
          </a:prstGeom>
          <a:solidFill>
            <a:srgbClr val="A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768" y="3849624"/>
            <a:ext cx="1005840" cy="256032"/>
          </a:xfrm>
          <a:prstGeom prst="rect">
            <a:avLst/>
          </a:prstGeom>
          <a:noFill/>
        </p:spPr>
        <p:txBody>
          <a:bodyPr wrap="square" lIns="0" tIns="0" rIns="0" bIns="0">
            <a:spAutoFit/>
          </a:bodyPr>
          <a:lstStyle/>
          <a:p>
            <a:pPr algn="l"/>
            <a:r>
              <a:rPr sz="1000" b="1" i="0">
                <a:solidFill>
                  <a:srgbClr val="FFFFFF"/>
                </a:solidFill>
                <a:latin typeface="Calibri"/>
              </a:rPr>
              <a:t>Phase 4</a:t>
            </a:r>
          </a:p>
        </p:txBody>
      </p:sp>
      <p:sp>
        <p:nvSpPr>
          <p:cNvPr id="24" name="TextBox 23"/>
          <p:cNvSpPr txBox="1"/>
          <p:nvPr/>
        </p:nvSpPr>
        <p:spPr>
          <a:xfrm>
            <a:off x="429768" y="4215384"/>
            <a:ext cx="3529584" cy="411480"/>
          </a:xfrm>
          <a:prstGeom prst="rect">
            <a:avLst/>
          </a:prstGeom>
          <a:noFill/>
        </p:spPr>
        <p:txBody>
          <a:bodyPr wrap="square" lIns="0" tIns="0" rIns="0" bIns="0">
            <a:spAutoFit/>
          </a:bodyPr>
          <a:lstStyle/>
          <a:p>
            <a:pPr algn="l"/>
            <a:r>
              <a:rPr sz="1300" b="1" i="0">
                <a:solidFill>
                  <a:srgbClr val="1A1A2E"/>
                </a:solidFill>
                <a:latin typeface="Calibri"/>
              </a:rPr>
              <a:t>Streamlit Web App</a:t>
            </a:r>
          </a:p>
        </p:txBody>
      </p:sp>
      <p:sp>
        <p:nvSpPr>
          <p:cNvPr id="25" name="TextBox 24"/>
          <p:cNvSpPr txBox="1"/>
          <p:nvPr/>
        </p:nvSpPr>
        <p:spPr>
          <a:xfrm>
            <a:off x="429768" y="4672584"/>
            <a:ext cx="3529584" cy="1417320"/>
          </a:xfrm>
          <a:prstGeom prst="rect">
            <a:avLst/>
          </a:prstGeom>
          <a:noFill/>
        </p:spPr>
        <p:txBody>
          <a:bodyPr wrap="square" lIns="0" tIns="0" rIns="0" bIns="0">
            <a:spAutoFit/>
          </a:bodyPr>
          <a:lstStyle/>
          <a:p>
            <a:pPr algn="l"/>
            <a:r>
              <a:rPr sz="1100" b="0" i="0">
                <a:solidFill>
                  <a:srgbClr val="445B7C"/>
                </a:solidFill>
                <a:latin typeface="Calibri"/>
              </a:rPr>
              <a:t>Re-deploy the entire dashboard as a public-facing Streamlit web application hosted on Streamlit Cloud. Eliminates Power BI Desktop requirement—accessible from any browser.</a:t>
            </a:r>
          </a:p>
        </p:txBody>
      </p:sp>
      <p:sp>
        <p:nvSpPr>
          <p:cNvPr id="26" name="Rounded Rectangle 25"/>
          <p:cNvSpPr/>
          <p:nvPr/>
        </p:nvSpPr>
        <p:spPr>
          <a:xfrm>
            <a:off x="4251959" y="3794760"/>
            <a:ext cx="3749039"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251959" y="3794760"/>
            <a:ext cx="3749039" cy="34747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61688" y="3849624"/>
            <a:ext cx="1005840" cy="256032"/>
          </a:xfrm>
          <a:prstGeom prst="rect">
            <a:avLst/>
          </a:prstGeom>
          <a:noFill/>
        </p:spPr>
        <p:txBody>
          <a:bodyPr wrap="square" lIns="0" tIns="0" rIns="0" bIns="0">
            <a:spAutoFit/>
          </a:bodyPr>
          <a:lstStyle/>
          <a:p>
            <a:pPr algn="l"/>
            <a:r>
              <a:rPr sz="1000" b="1" i="0">
                <a:solidFill>
                  <a:srgbClr val="FFFFFF"/>
                </a:solidFill>
                <a:latin typeface="Calibri"/>
              </a:rPr>
              <a:t>Phase 5</a:t>
            </a:r>
          </a:p>
        </p:txBody>
      </p:sp>
      <p:sp>
        <p:nvSpPr>
          <p:cNvPr id="29" name="TextBox 28"/>
          <p:cNvSpPr txBox="1"/>
          <p:nvPr/>
        </p:nvSpPr>
        <p:spPr>
          <a:xfrm>
            <a:off x="4361688" y="4215384"/>
            <a:ext cx="3529584" cy="411480"/>
          </a:xfrm>
          <a:prstGeom prst="rect">
            <a:avLst/>
          </a:prstGeom>
          <a:noFill/>
        </p:spPr>
        <p:txBody>
          <a:bodyPr wrap="square" lIns="0" tIns="0" rIns="0" bIns="0">
            <a:spAutoFit/>
          </a:bodyPr>
          <a:lstStyle/>
          <a:p>
            <a:pPr algn="l"/>
            <a:r>
              <a:rPr sz="1300" b="1" i="0">
                <a:solidFill>
                  <a:srgbClr val="1A1A2E"/>
                </a:solidFill>
                <a:latin typeface="Calibri"/>
              </a:rPr>
              <a:t>Mobile-First Dashboard</a:t>
            </a:r>
          </a:p>
        </p:txBody>
      </p:sp>
      <p:sp>
        <p:nvSpPr>
          <p:cNvPr id="30" name="TextBox 29"/>
          <p:cNvSpPr txBox="1"/>
          <p:nvPr/>
        </p:nvSpPr>
        <p:spPr>
          <a:xfrm>
            <a:off x="4361688" y="4672584"/>
            <a:ext cx="3529584" cy="1417320"/>
          </a:xfrm>
          <a:prstGeom prst="rect">
            <a:avLst/>
          </a:prstGeom>
          <a:noFill/>
        </p:spPr>
        <p:txBody>
          <a:bodyPr wrap="square" lIns="0" tIns="0" rIns="0" bIns="0">
            <a:spAutoFit/>
          </a:bodyPr>
          <a:lstStyle/>
          <a:p>
            <a:pPr algn="l"/>
            <a:r>
              <a:rPr sz="1100" b="0" i="0">
                <a:solidFill>
                  <a:srgbClr val="445B7C"/>
                </a:solidFill>
                <a:latin typeface="Calibri"/>
              </a:rPr>
              <a:t>Redesign Power BI report for mobile layout. Add push notifications for fund performance alerts (e.g., 'HDFC Top 100 hits new 52-week high NAV').</a:t>
            </a:r>
          </a:p>
        </p:txBody>
      </p:sp>
      <p:sp>
        <p:nvSpPr>
          <p:cNvPr id="31" name="Rounded Rectangle 30"/>
          <p:cNvSpPr/>
          <p:nvPr/>
        </p:nvSpPr>
        <p:spPr>
          <a:xfrm>
            <a:off x="8183879" y="3794760"/>
            <a:ext cx="3749039"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83879" y="3794760"/>
            <a:ext cx="3749039" cy="347472"/>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93607" y="3849624"/>
            <a:ext cx="1005840" cy="256032"/>
          </a:xfrm>
          <a:prstGeom prst="rect">
            <a:avLst/>
          </a:prstGeom>
          <a:noFill/>
        </p:spPr>
        <p:txBody>
          <a:bodyPr wrap="square" lIns="0" tIns="0" rIns="0" bIns="0">
            <a:spAutoFit/>
          </a:bodyPr>
          <a:lstStyle/>
          <a:p>
            <a:pPr algn="l"/>
            <a:r>
              <a:rPr sz="1000" b="1" i="0">
                <a:solidFill>
                  <a:srgbClr val="FFFFFF"/>
                </a:solidFill>
                <a:latin typeface="Calibri"/>
              </a:rPr>
              <a:t>Phase 6</a:t>
            </a:r>
          </a:p>
        </p:txBody>
      </p:sp>
      <p:sp>
        <p:nvSpPr>
          <p:cNvPr id="34" name="TextBox 33"/>
          <p:cNvSpPr txBox="1"/>
          <p:nvPr/>
        </p:nvSpPr>
        <p:spPr>
          <a:xfrm>
            <a:off x="8293607" y="4215384"/>
            <a:ext cx="3529584" cy="411480"/>
          </a:xfrm>
          <a:prstGeom prst="rect">
            <a:avLst/>
          </a:prstGeom>
          <a:noFill/>
        </p:spPr>
        <p:txBody>
          <a:bodyPr wrap="square" lIns="0" tIns="0" rIns="0" bIns="0">
            <a:spAutoFit/>
          </a:bodyPr>
          <a:lstStyle/>
          <a:p>
            <a:pPr algn="l"/>
            <a:r>
              <a:rPr sz="1300" b="1" i="0">
                <a:solidFill>
                  <a:srgbClr val="1A1A2E"/>
                </a:solidFill>
                <a:latin typeface="Calibri"/>
              </a:rPr>
              <a:t>Personalized AI Recommender</a:t>
            </a:r>
          </a:p>
        </p:txBody>
      </p:sp>
      <p:sp>
        <p:nvSpPr>
          <p:cNvPr id="35" name="TextBox 34"/>
          <p:cNvSpPr txBox="1"/>
          <p:nvPr/>
        </p:nvSpPr>
        <p:spPr>
          <a:xfrm>
            <a:off x="8293607" y="4672584"/>
            <a:ext cx="3529584" cy="1417320"/>
          </a:xfrm>
          <a:prstGeom prst="rect">
            <a:avLst/>
          </a:prstGeom>
          <a:noFill/>
        </p:spPr>
        <p:txBody>
          <a:bodyPr wrap="square" lIns="0" tIns="0" rIns="0" bIns="0">
            <a:spAutoFit/>
          </a:bodyPr>
          <a:lstStyle/>
          <a:p>
            <a:pPr algn="l"/>
            <a:r>
              <a:rPr sz="1100" b="0" i="0">
                <a:solidFill>
                  <a:srgbClr val="445B7C"/>
                </a:solidFill>
                <a:latin typeface="Calibri"/>
              </a:rPr>
              <a:t>Upgrade rule-based recommender.py to an ML-driven recommendation engine using investor profile (risk, horizon, goal) and collaborative filtering across similar investor cohorts.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772400" y="-731520"/>
            <a:ext cx="5029200" cy="5029200"/>
          </a:xfrm>
          <a:prstGeom prst="ellipse">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4114800"/>
            <a:ext cx="3200400" cy="3200400"/>
          </a:xfrm>
          <a:prstGeom prst="ellipse">
            <a:avLst/>
          </a:prstGeom>
          <a:solidFill>
            <a:srgbClr val="0A2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457200"/>
            <a:ext cx="7315200" cy="411480"/>
          </a:xfrm>
          <a:prstGeom prst="rect">
            <a:avLst/>
          </a:prstGeom>
          <a:noFill/>
        </p:spPr>
        <p:txBody>
          <a:bodyPr wrap="square" lIns="0" tIns="0" rIns="0" bIns="0">
            <a:spAutoFit/>
          </a:bodyPr>
          <a:lstStyle/>
          <a:p>
            <a:pPr algn="l"/>
            <a:r>
              <a:rPr sz="1300" b="1" i="0">
                <a:solidFill>
                  <a:srgbClr val="009BE8"/>
                </a:solidFill>
                <a:latin typeface="Calibri"/>
              </a:rPr>
              <a:t>CONCLUSION</a:t>
            </a:r>
          </a:p>
        </p:txBody>
      </p:sp>
      <p:sp>
        <p:nvSpPr>
          <p:cNvPr id="6" name="TextBox 5"/>
          <p:cNvSpPr txBox="1"/>
          <p:nvPr/>
        </p:nvSpPr>
        <p:spPr>
          <a:xfrm>
            <a:off x="548640" y="868680"/>
            <a:ext cx="8686800" cy="1645920"/>
          </a:xfrm>
          <a:prstGeom prst="rect">
            <a:avLst/>
          </a:prstGeom>
          <a:noFill/>
        </p:spPr>
        <p:txBody>
          <a:bodyPr wrap="square" lIns="0" tIns="0" rIns="0" bIns="0">
            <a:spAutoFit/>
          </a:bodyPr>
          <a:lstStyle/>
          <a:p>
            <a:pPr algn="l"/>
            <a:r>
              <a:rPr sz="3200" b="1" i="0">
                <a:solidFill>
                  <a:srgbClr val="FFFFFF"/>
                </a:solidFill>
                <a:latin typeface="Cambria"/>
              </a:rPr>
              <a:t>Turning 87,000+ NAV Records
Into Investor Intelligence</a:t>
            </a:r>
          </a:p>
        </p:txBody>
      </p:sp>
      <p:sp>
        <p:nvSpPr>
          <p:cNvPr id="7" name="Rectangle 6"/>
          <p:cNvSpPr/>
          <p:nvPr/>
        </p:nvSpPr>
        <p:spPr>
          <a:xfrm>
            <a:off x="548640" y="2514600"/>
            <a:ext cx="4572000" cy="54864"/>
          </a:xfrm>
          <a:prstGeom prst="rect">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6928" y="2834640"/>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697480"/>
            <a:ext cx="7863840" cy="530352"/>
          </a:xfrm>
          <a:prstGeom prst="rect">
            <a:avLst/>
          </a:prstGeom>
          <a:noFill/>
        </p:spPr>
        <p:txBody>
          <a:bodyPr wrap="square" lIns="0" tIns="0" rIns="0" bIns="0">
            <a:spAutoFit/>
          </a:bodyPr>
          <a:lstStyle/>
          <a:p>
            <a:pPr algn="l"/>
            <a:r>
              <a:rPr sz="1200" b="0" i="0">
                <a:solidFill>
                  <a:srgbClr val="CCDDEE"/>
                </a:solidFill>
                <a:latin typeface="Calibri"/>
              </a:rPr>
              <a:t>Full ETL pipeline: 40 fund schemes, 87,000+ rows, 8-table star-schema SQLite database</a:t>
            </a:r>
          </a:p>
        </p:txBody>
      </p:sp>
      <p:sp>
        <p:nvSpPr>
          <p:cNvPr id="10" name="Oval 9"/>
          <p:cNvSpPr/>
          <p:nvPr/>
        </p:nvSpPr>
        <p:spPr>
          <a:xfrm>
            <a:off x="566928" y="3429000"/>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3291840"/>
            <a:ext cx="7863840" cy="530352"/>
          </a:xfrm>
          <a:prstGeom prst="rect">
            <a:avLst/>
          </a:prstGeom>
          <a:noFill/>
        </p:spPr>
        <p:txBody>
          <a:bodyPr wrap="square" lIns="0" tIns="0" rIns="0" bIns="0">
            <a:spAutoFit/>
          </a:bodyPr>
          <a:lstStyle/>
          <a:p>
            <a:pPr algn="l"/>
            <a:r>
              <a:rPr sz="1200" b="0" i="0">
                <a:solidFill>
                  <a:srgbClr val="CCDDEE"/>
                </a:solidFill>
                <a:latin typeface="Calibri"/>
              </a:rPr>
              <a:t>9 performance metrics: CAGR, Sharpe, Sortino, Alpha, Beta, Max Drawdown, VaR, CVaR, Composite Score</a:t>
            </a:r>
          </a:p>
        </p:txBody>
      </p:sp>
      <p:sp>
        <p:nvSpPr>
          <p:cNvPr id="12" name="Oval 11"/>
          <p:cNvSpPr/>
          <p:nvPr/>
        </p:nvSpPr>
        <p:spPr>
          <a:xfrm>
            <a:off x="566928" y="4023360"/>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3886200"/>
            <a:ext cx="7863840" cy="530352"/>
          </a:xfrm>
          <a:prstGeom prst="rect">
            <a:avLst/>
          </a:prstGeom>
          <a:noFill/>
        </p:spPr>
        <p:txBody>
          <a:bodyPr wrap="square" lIns="0" tIns="0" rIns="0" bIns="0">
            <a:spAutoFit/>
          </a:bodyPr>
          <a:lstStyle/>
          <a:p>
            <a:pPr algn="l"/>
            <a:r>
              <a:rPr sz="1200" b="0" i="0">
                <a:solidFill>
                  <a:srgbClr val="CCDDEE"/>
                </a:solidFill>
                <a:latin typeface="Calibri"/>
              </a:rPr>
              <a:t>4-page interactive Power BI dashboard with live slicers and cross-filter capability</a:t>
            </a:r>
          </a:p>
        </p:txBody>
      </p:sp>
      <p:sp>
        <p:nvSpPr>
          <p:cNvPr id="14" name="Oval 13"/>
          <p:cNvSpPr/>
          <p:nvPr/>
        </p:nvSpPr>
        <p:spPr>
          <a:xfrm>
            <a:off x="566928" y="4617720"/>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4480560"/>
            <a:ext cx="7863840" cy="530352"/>
          </a:xfrm>
          <a:prstGeom prst="rect">
            <a:avLst/>
          </a:prstGeom>
          <a:noFill/>
        </p:spPr>
        <p:txBody>
          <a:bodyPr wrap="square" lIns="0" tIns="0" rIns="0" bIns="0">
            <a:spAutoFit/>
          </a:bodyPr>
          <a:lstStyle/>
          <a:p>
            <a:pPr algn="l"/>
            <a:r>
              <a:rPr sz="1200" b="0" i="0">
                <a:solidFill>
                  <a:srgbClr val="CCDDEE"/>
                </a:solidFill>
                <a:latin typeface="Calibri"/>
              </a:rPr>
              <a:t>Rule-based fund recommender providing personalized top-3 picks by risk appetite</a:t>
            </a:r>
          </a:p>
        </p:txBody>
      </p:sp>
      <p:sp>
        <p:nvSpPr>
          <p:cNvPr id="16" name="Oval 15"/>
          <p:cNvSpPr/>
          <p:nvPr/>
        </p:nvSpPr>
        <p:spPr>
          <a:xfrm>
            <a:off x="566928" y="5212080"/>
            <a:ext cx="182880" cy="182880"/>
          </a:xfrm>
          <a:prstGeom prst="ellipse">
            <a:avLst/>
          </a:prstGeom>
          <a:solidFill>
            <a:srgbClr val="009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5074920"/>
            <a:ext cx="7863840" cy="530352"/>
          </a:xfrm>
          <a:prstGeom prst="rect">
            <a:avLst/>
          </a:prstGeom>
          <a:noFill/>
        </p:spPr>
        <p:txBody>
          <a:bodyPr wrap="square" lIns="0" tIns="0" rIns="0" bIns="0">
            <a:spAutoFit/>
          </a:bodyPr>
          <a:lstStyle/>
          <a:p>
            <a:pPr algn="l"/>
            <a:r>
              <a:rPr sz="1200" b="0" i="0">
                <a:solidFill>
                  <a:srgbClr val="CCDDEE"/>
                </a:solidFill>
                <a:latin typeface="Calibri"/>
              </a:rPr>
              <a:t>Open-source stack: Python, Pandas, SQLite, Power BI — zero licensing cost</a:t>
            </a:r>
          </a:p>
        </p:txBody>
      </p:sp>
      <p:sp>
        <p:nvSpPr>
          <p:cNvPr id="18" name="Rounded Rectangle 17"/>
          <p:cNvSpPr/>
          <p:nvPr/>
        </p:nvSpPr>
        <p:spPr>
          <a:xfrm>
            <a:off x="548640" y="5532120"/>
            <a:ext cx="8412480" cy="1143000"/>
          </a:xfrm>
          <a:prstGeom prst="roundRect">
            <a:avLst/>
          </a:prstGeom>
          <a:solidFill>
            <a:srgbClr val="12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596128"/>
            <a:ext cx="5029200" cy="411480"/>
          </a:xfrm>
          <a:prstGeom prst="rect">
            <a:avLst/>
          </a:prstGeom>
          <a:noFill/>
        </p:spPr>
        <p:txBody>
          <a:bodyPr wrap="square" lIns="0" tIns="0" rIns="0" bIns="0">
            <a:spAutoFit/>
          </a:bodyPr>
          <a:lstStyle/>
          <a:p>
            <a:pPr algn="l"/>
            <a:r>
              <a:rPr sz="1600" b="1" i="0">
                <a:solidFill>
                  <a:srgbClr val="FFFFFF"/>
                </a:solidFill>
                <a:latin typeface="Calibri"/>
              </a:rPr>
              <a:t>Pramod Vinayak Patil</a:t>
            </a:r>
          </a:p>
        </p:txBody>
      </p:sp>
      <p:sp>
        <p:nvSpPr>
          <p:cNvPr id="20" name="TextBox 19"/>
          <p:cNvSpPr txBox="1"/>
          <p:nvPr/>
        </p:nvSpPr>
        <p:spPr>
          <a:xfrm>
            <a:off x="777240" y="6035040"/>
            <a:ext cx="8229600" cy="457200"/>
          </a:xfrm>
          <a:prstGeom prst="rect">
            <a:avLst/>
          </a:prstGeom>
          <a:noFill/>
        </p:spPr>
        <p:txBody>
          <a:bodyPr wrap="square" lIns="0" tIns="0" rIns="0" bIns="0">
            <a:spAutoFit/>
          </a:bodyPr>
          <a:lstStyle/>
          <a:p>
            <a:pPr algn="l"/>
            <a:r>
              <a:rPr sz="1000" b="0" i="0">
                <a:solidFill>
                  <a:srgbClr val="009BE8"/>
                </a:solidFill>
                <a:latin typeface="Calibri"/>
              </a:rPr>
              <a:t>pramodpatil0520@gmail.com  ·  linkedin.com/in/pramod-patil-a00309265  ·  github.com/pramodpatil0520</a:t>
            </a:r>
          </a:p>
        </p:txBody>
      </p:sp>
      <p:sp>
        <p:nvSpPr>
          <p:cNvPr id="21" name="TextBox 20"/>
          <p:cNvSpPr txBox="1"/>
          <p:nvPr/>
        </p:nvSpPr>
        <p:spPr>
          <a:xfrm>
            <a:off x="8961120" y="1828800"/>
            <a:ext cx="2926080" cy="914400"/>
          </a:xfrm>
          <a:prstGeom prst="rect">
            <a:avLst/>
          </a:prstGeom>
          <a:noFill/>
        </p:spPr>
        <p:txBody>
          <a:bodyPr wrap="square" lIns="0" tIns="0" rIns="0" bIns="0">
            <a:spAutoFit/>
          </a:bodyPr>
          <a:lstStyle/>
          <a:p>
            <a:pPr algn="ctr"/>
            <a:r>
              <a:rPr sz="4200" b="1" i="0">
                <a:solidFill>
                  <a:srgbClr val="FFFFFF"/>
                </a:solidFill>
                <a:latin typeface="Cambria"/>
              </a:rPr>
              <a:t>Thank You</a:t>
            </a:r>
          </a:p>
        </p:txBody>
      </p:sp>
      <p:sp>
        <p:nvSpPr>
          <p:cNvPr id="22" name="TextBox 21"/>
          <p:cNvSpPr txBox="1"/>
          <p:nvPr/>
        </p:nvSpPr>
        <p:spPr>
          <a:xfrm>
            <a:off x="8961120" y="2834640"/>
            <a:ext cx="2926080" cy="457200"/>
          </a:xfrm>
          <a:prstGeom prst="rect">
            <a:avLst/>
          </a:prstGeom>
          <a:noFill/>
        </p:spPr>
        <p:txBody>
          <a:bodyPr wrap="square" lIns="0" tIns="0" rIns="0" bIns="0">
            <a:spAutoFit/>
          </a:bodyPr>
          <a:lstStyle/>
          <a:p>
            <a:pPr algn="ctr"/>
            <a:r>
              <a:rPr sz="1400" b="0" i="1">
                <a:solidFill>
                  <a:srgbClr val="009BE8"/>
                </a:solidFill>
                <a:latin typeface="Calibri"/>
              </a:rPr>
              <a:t>Questions Welcome</a:t>
            </a:r>
          </a:p>
        </p:txBody>
      </p:sp>
      <p:sp>
        <p:nvSpPr>
          <p:cNvPr id="23" name="TextBox 22"/>
          <p:cNvSpPr txBox="1"/>
          <p:nvPr/>
        </p:nvSpPr>
        <p:spPr>
          <a:xfrm>
            <a:off x="724244" y="6519672"/>
            <a:ext cx="8686800" cy="274320"/>
          </a:xfrm>
          <a:prstGeom prst="rect">
            <a:avLst/>
          </a:prstGeom>
          <a:noFill/>
        </p:spPr>
        <p:txBody>
          <a:bodyPr wrap="square" lIns="0" tIns="0" rIns="0" bIns="0">
            <a:spAutoFit/>
          </a:bodyPr>
          <a:lstStyle/>
          <a:p>
            <a:pPr algn="l"/>
            <a:r>
              <a:rPr sz="900" b="0" i="1" dirty="0" err="1">
                <a:solidFill>
                  <a:srgbClr val="6080A0"/>
                </a:solidFill>
                <a:latin typeface="Calibri"/>
              </a:rPr>
              <a:t>Bluestock</a:t>
            </a:r>
            <a:r>
              <a:rPr sz="900" b="0" i="1" dirty="0">
                <a:solidFill>
                  <a:srgbClr val="6080A0"/>
                </a:solidFill>
                <a:latin typeface="Calibri"/>
              </a:rPr>
              <a:t> Fintech Pvt. Ltd. · Capstone Internship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3509</Words>
  <Application>Microsoft Office PowerPoint</Application>
  <PresentationFormat>Custom</PresentationFormat>
  <Paragraphs>318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pramod gurjar</dc:creator>
  <cp:keywords/>
  <dc:description>generated using python-pptx</dc:description>
  <cp:lastModifiedBy>pramod gurjar</cp:lastModifiedBy>
  <cp:revision>2</cp:revision>
  <dcterms:created xsi:type="dcterms:W3CDTF">2013-01-27T09:14:16Z</dcterms:created>
  <dcterms:modified xsi:type="dcterms:W3CDTF">2026-06-10T09:08:46Z</dcterms:modified>
  <cp:category/>
</cp:coreProperties>
</file>